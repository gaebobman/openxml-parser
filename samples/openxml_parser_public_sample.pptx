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25" d="100"/>
          <a:sy n="125" d="100"/>
        </p:scale>
        <p:origin x="1536" y="5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r>
              <a:rPr lang="en-US"/>
              <a:t>Retrieval metric chart</a:t>
            </a:r>
          </a:p>
        </c:rich>
      </c:tx>
      <c:overlay val="0"/>
    </c:title>
    <c:autoTitleDeleted val="0"/>
    <c:plotArea>
      <c:layout/>
      <c:barChart>
        <c:barDir val="col"/>
        <c:grouping val="clustered"/>
        <c:varyColors val="1"/>
        <c:ser>
          <c:idx val="0"/>
          <c:order val="0"/>
          <c:tx>
            <c:strRef>
              <c:f>Sheet1!$B$1</c:f>
              <c:strCache>
                <c:ptCount val="1"/>
                <c:pt idx="0">
                  <c:v>HitRate</c:v>
                </c:pt>
              </c:strCache>
            </c:strRef>
          </c:tx>
          <c:invertIfNegative val="1"/>
          <c:cat>
            <c:strRef>
              <c:f>Sheet1!$A$2:$A$4</c:f>
              <c:strCache>
                <c:ptCount val="3"/>
                <c:pt idx="0">
                  <c:v>K@1</c:v>
                </c:pt>
                <c:pt idx="1">
                  <c:v>K@5</c:v>
                </c:pt>
                <c:pt idx="2">
                  <c:v>K@10</c:v>
                </c:pt>
              </c:strCache>
            </c:strRef>
          </c:cat>
          <c:val>
            <c:numRef>
              <c:f>Sheet1!$B$2:$B$4</c:f>
              <c:numCache>
                <c:formatCode>General</c:formatCode>
                <c:ptCount val="3"/>
                <c:pt idx="0">
                  <c:v>0.42</c:v>
                </c:pt>
                <c:pt idx="1">
                  <c:v>0.76</c:v>
                </c:pt>
                <c:pt idx="2">
                  <c:v>0.88</c:v>
                </c:pt>
              </c:numCache>
            </c:numRef>
          </c:val>
          <c:extLst>
            <c:ext xmlns:c16="http://schemas.microsoft.com/office/drawing/2014/chart" uri="{C3380CC4-5D6E-409C-BE32-E72D297353CC}">
              <c16:uniqueId val="{00000000-022C-4D9F-B7E9-7FF79EC3122D}"/>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6280"/>
            <a:ext cx="7772400" cy="1470025"/>
          </a:xfrm>
        </p:spPr>
        <p:txBody>
          <a:bodyPr/>
          <a:lstStyle/>
          <a:p>
            <a:r>
              <a:rPr dirty="0" err="1"/>
              <a:t>OpenXML</a:t>
            </a:r>
            <a:r>
              <a:rPr dirty="0"/>
              <a:t> Parser Sample Deck</a:t>
            </a:r>
          </a:p>
        </p:txBody>
      </p:sp>
      <p:sp>
        <p:nvSpPr>
          <p:cNvPr id="3" name="Subtitle 2"/>
          <p:cNvSpPr>
            <a:spLocks noGrp="1"/>
          </p:cNvSpPr>
          <p:nvPr>
            <p:ph type="subTitle" idx="1"/>
          </p:nvPr>
        </p:nvSpPr>
        <p:spPr>
          <a:xfrm>
            <a:off x="51232" y="3887819"/>
            <a:ext cx="6400800" cy="2495145"/>
          </a:xfrm>
        </p:spPr>
        <p:txBody>
          <a:bodyPr>
            <a:normAutofit/>
          </a:bodyPr>
          <a:lstStyle/>
          <a:p>
            <a:r>
              <a:rPr dirty="0"/>
              <a:t>Synthetic PPTX for parsing, reading order, relation, table, image, chart, and RAG tests</a:t>
            </a:r>
          </a:p>
          <a:p>
            <a:r>
              <a:rPr dirty="0"/>
              <a:t>Author: public-sample-generator</a:t>
            </a:r>
          </a:p>
        </p:txBody>
      </p:sp>
      <p:sp>
        <p:nvSpPr>
          <p:cNvPr id="4" name="Rounded Rectangle 3"/>
          <p:cNvSpPr/>
          <p:nvPr/>
        </p:nvSpPr>
        <p:spPr>
          <a:xfrm>
            <a:off x="10378440" y="228600"/>
            <a:ext cx="1280160" cy="320040"/>
          </a:xfrm>
          <a:prstGeom prst="roundRect">
            <a:avLst/>
          </a:prstGeom>
          <a:solidFill>
            <a:srgbClr val="E6ECF6"/>
          </a:solidFill>
          <a:ln>
            <a:solidFill>
              <a:srgbClr val="788CA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u="none">
                <a:solidFill>
                  <a:srgbClr val="142346"/>
                </a:solidFill>
                <a:latin typeface="Aptos"/>
              </a:rPr>
              <a:t>3.1 / 3.2</a:t>
            </a:r>
          </a:p>
        </p:txBody>
      </p:sp>
      <p:pic>
        <p:nvPicPr>
          <p:cNvPr id="5" name="Picture 4" descr="a_clean_flat_vector_illustration_on_a_white_backgr_batch_2.png"/>
          <p:cNvPicPr>
            <a:picLocks noChangeAspect="1"/>
          </p:cNvPicPr>
          <p:nvPr/>
        </p:nvPicPr>
        <p:blipFill>
          <a:blip r:embed="rId2"/>
          <a:stretch>
            <a:fillRect/>
          </a:stretch>
        </p:blipFill>
        <p:spPr>
          <a:xfrm>
            <a:off x="7818120" y="2594813"/>
            <a:ext cx="3840480" cy="2377440"/>
          </a:xfrm>
          <a:prstGeom prst="rect">
            <a:avLst/>
          </a:prstGeom>
        </p:spPr>
      </p:pic>
      <p:sp>
        <p:nvSpPr>
          <p:cNvPr id="6" name="TextBox 5"/>
          <p:cNvSpPr txBox="1"/>
          <p:nvPr/>
        </p:nvSpPr>
        <p:spPr>
          <a:xfrm>
            <a:off x="8092440" y="5017973"/>
            <a:ext cx="3383280" cy="320040"/>
          </a:xfrm>
          <a:prstGeom prst="rect">
            <a:avLst/>
          </a:prstGeom>
          <a:noFill/>
        </p:spPr>
        <p:txBody>
          <a:bodyPr wrap="none">
            <a:spAutoFit/>
          </a:bodyPr>
          <a:lstStyle/>
          <a:p>
            <a:r>
              <a:rPr sz="1100" b="0" i="1" u="none">
                <a:solidFill>
                  <a:srgbClr val="1E1E1E"/>
                </a:solidFill>
                <a:latin typeface="Aptos"/>
              </a:rPr>
              <a:t>Figure 1. Document assets are normalized into AI-ready chunks.</a:t>
            </a:r>
          </a:p>
        </p:txBody>
      </p:sp>
      <p:graphicFrame>
        <p:nvGraphicFramePr>
          <p:cNvPr id="7" name="Table 6"/>
          <p:cNvGraphicFramePr>
            <a:graphicFrameLocks noGrp="1"/>
          </p:cNvGraphicFramePr>
          <p:nvPr>
            <p:extLst>
              <p:ext uri="{D42A27DB-BD31-4B8C-83A1-F6EECF244321}">
                <p14:modId xmlns:p14="http://schemas.microsoft.com/office/powerpoint/2010/main" val="2394040792"/>
              </p:ext>
            </p:extLst>
          </p:nvPr>
        </p:nvGraphicFramePr>
        <p:xfrm>
          <a:off x="51232" y="1584108"/>
          <a:ext cx="5120640" cy="219456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tblGrid>
              <a:tr h="438912">
                <a:tc>
                  <a:txBody>
                    <a:bodyPr/>
                    <a:lstStyle/>
                    <a:p>
                      <a:r>
                        <a:rPr sz="1000" b="0" i="0" u="none">
                          <a:solidFill>
                            <a:srgbClr val="1E1E1E"/>
                          </a:solidFill>
                          <a:latin typeface="Aptos"/>
                        </a:rPr>
                        <a:t>No.</a:t>
                      </a:r>
                    </a:p>
                  </a:txBody>
                  <a:tcPr/>
                </a:tc>
                <a:tc>
                  <a:txBody>
                    <a:bodyPr/>
                    <a:lstStyle/>
                    <a:p>
                      <a:r>
                        <a:rPr sz="1000" b="0" i="0" u="none">
                          <a:solidFill>
                            <a:srgbClr val="1E1E1E"/>
                          </a:solidFill>
                          <a:latin typeface="Aptos"/>
                        </a:rPr>
                        <a:t>Sample section</a:t>
                      </a:r>
                    </a:p>
                  </a:txBody>
                  <a:tcPr/>
                </a:tc>
                <a:extLst>
                  <a:ext uri="{0D108BD9-81ED-4DB2-BD59-A6C34878D82A}">
                    <a16:rowId xmlns:a16="http://schemas.microsoft.com/office/drawing/2014/main" val="10000"/>
                  </a:ext>
                </a:extLst>
              </a:tr>
              <a:tr h="438912">
                <a:tc>
                  <a:txBody>
                    <a:bodyPr/>
                    <a:lstStyle/>
                    <a:p>
                      <a:r>
                        <a:rPr sz="1000" b="0" i="0" u="none">
                          <a:solidFill>
                            <a:srgbClr val="1E1E1E"/>
                          </a:solidFill>
                          <a:latin typeface="Aptos"/>
                        </a:rPr>
                        <a:t>1</a:t>
                      </a:r>
                    </a:p>
                  </a:txBody>
                  <a:tcPr/>
                </a:tc>
                <a:tc>
                  <a:txBody>
                    <a:bodyPr/>
                    <a:lstStyle/>
                    <a:p>
                      <a:r>
                        <a:rPr sz="1000" b="0" i="0" u="none">
                          <a:solidFill>
                            <a:srgbClr val="1E1E1E"/>
                          </a:solidFill>
                          <a:latin typeface="Aptos"/>
                        </a:rPr>
                        <a:t>Tables &amp; merged cells</a:t>
                      </a:r>
                    </a:p>
                  </a:txBody>
                  <a:tcPr/>
                </a:tc>
                <a:extLst>
                  <a:ext uri="{0D108BD9-81ED-4DB2-BD59-A6C34878D82A}">
                    <a16:rowId xmlns:a16="http://schemas.microsoft.com/office/drawing/2014/main" val="10001"/>
                  </a:ext>
                </a:extLst>
              </a:tr>
              <a:tr h="438912">
                <a:tc>
                  <a:txBody>
                    <a:bodyPr/>
                    <a:lstStyle/>
                    <a:p>
                      <a:r>
                        <a:rPr sz="1000" b="0" i="0" u="none">
                          <a:solidFill>
                            <a:srgbClr val="1E1E1E"/>
                          </a:solidFill>
                          <a:latin typeface="Aptos"/>
                        </a:rPr>
                        <a:t>2</a:t>
                      </a:r>
                    </a:p>
                  </a:txBody>
                  <a:tcPr/>
                </a:tc>
                <a:tc>
                  <a:txBody>
                    <a:bodyPr/>
                    <a:lstStyle/>
                    <a:p>
                      <a:r>
                        <a:rPr sz="1000" b="0" i="0" u="none">
                          <a:solidFill>
                            <a:srgbClr val="1E1E1E"/>
                          </a:solidFill>
                          <a:latin typeface="Aptos"/>
                        </a:rPr>
                        <a:t>Text formatting &amp; lists</a:t>
                      </a:r>
                    </a:p>
                  </a:txBody>
                  <a:tcPr/>
                </a:tc>
                <a:extLst>
                  <a:ext uri="{0D108BD9-81ED-4DB2-BD59-A6C34878D82A}">
                    <a16:rowId xmlns:a16="http://schemas.microsoft.com/office/drawing/2014/main" val="10002"/>
                  </a:ext>
                </a:extLst>
              </a:tr>
              <a:tr h="438912">
                <a:tc>
                  <a:txBody>
                    <a:bodyPr/>
                    <a:lstStyle/>
                    <a:p>
                      <a:r>
                        <a:rPr sz="1000" b="0" i="0" u="none">
                          <a:solidFill>
                            <a:srgbClr val="1E1E1E"/>
                          </a:solidFill>
                          <a:latin typeface="Aptos"/>
                        </a:rPr>
                        <a:t>3</a:t>
                      </a:r>
                    </a:p>
                  </a:txBody>
                  <a:tcPr/>
                </a:tc>
                <a:tc>
                  <a:txBody>
                    <a:bodyPr/>
                    <a:lstStyle/>
                    <a:p>
                      <a:r>
                        <a:rPr sz="1000" b="0" i="0" u="none">
                          <a:solidFill>
                            <a:srgbClr val="1E1E1E"/>
                          </a:solidFill>
                          <a:latin typeface="Aptos"/>
                        </a:rPr>
                        <a:t>Images, crop, annotations</a:t>
                      </a:r>
                    </a:p>
                  </a:txBody>
                  <a:tcPr/>
                </a:tc>
                <a:extLst>
                  <a:ext uri="{0D108BD9-81ED-4DB2-BD59-A6C34878D82A}">
                    <a16:rowId xmlns:a16="http://schemas.microsoft.com/office/drawing/2014/main" val="10003"/>
                  </a:ext>
                </a:extLst>
              </a:tr>
              <a:tr h="438912">
                <a:tc>
                  <a:txBody>
                    <a:bodyPr/>
                    <a:lstStyle/>
                    <a:p>
                      <a:r>
                        <a:rPr sz="1000" b="0" i="0" u="none">
                          <a:solidFill>
                            <a:srgbClr val="1E1E1E"/>
                          </a:solidFill>
                          <a:latin typeface="Aptos"/>
                        </a:rPr>
                        <a:t>4</a:t>
                      </a:r>
                    </a:p>
                  </a:txBody>
                  <a:tcPr/>
                </a:tc>
                <a:tc>
                  <a:txBody>
                    <a:bodyPr/>
                    <a:lstStyle/>
                    <a:p>
                      <a:r>
                        <a:rPr sz="1000" b="0" i="0" u="none" dirty="0">
                          <a:solidFill>
                            <a:srgbClr val="1E1E1E"/>
                          </a:solidFill>
                          <a:latin typeface="Aptos"/>
                        </a:rPr>
                        <a:t>Relations, chart, math</a:t>
                      </a:r>
                    </a:p>
                  </a:txBody>
                  <a:tcPr/>
                </a:tc>
                <a:extLst>
                  <a:ext uri="{0D108BD9-81ED-4DB2-BD59-A6C34878D82A}">
                    <a16:rowId xmlns:a16="http://schemas.microsoft.com/office/drawing/2014/main" val="10004"/>
                  </a:ext>
                </a:extLst>
              </a:tr>
            </a:tbl>
          </a:graphicData>
        </a:graphic>
      </p:graphicFrame>
      <p:sp>
        <p:nvSpPr>
          <p:cNvPr id="8" name="TextBox 7"/>
          <p:cNvSpPr txBox="1"/>
          <p:nvPr/>
        </p:nvSpPr>
        <p:spPr>
          <a:xfrm>
            <a:off x="457200" y="6446520"/>
            <a:ext cx="11247120" cy="228600"/>
          </a:xfrm>
          <a:prstGeom prst="rect">
            <a:avLst/>
          </a:prstGeom>
          <a:noFill/>
        </p:spPr>
        <p:txBody>
          <a:bodyPr wrap="none">
            <a:spAutoFit/>
          </a:bodyPr>
          <a:lstStyle/>
          <a:p>
            <a:r>
              <a:rPr sz="800" b="0" i="0" u="none">
                <a:solidFill>
                  <a:srgbClr val="828282"/>
                </a:solidFill>
                <a:latin typeface="Aptos"/>
              </a:rPr>
              <a:t>openxml-parser public sample / synthetic data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28600"/>
            <a:ext cx="11155680" cy="548640"/>
          </a:xfrm>
          <a:prstGeom prst="rect">
            <a:avLst/>
          </a:prstGeom>
          <a:noFill/>
        </p:spPr>
        <p:txBody>
          <a:bodyPr wrap="none">
            <a:spAutoFit/>
          </a:bodyPr>
          <a:lstStyle/>
          <a:p>
            <a:r>
              <a:rPr sz="2800" b="1" i="0" u="none" dirty="0">
                <a:solidFill>
                  <a:srgbClr val="142346"/>
                </a:solidFill>
                <a:latin typeface="Aptos"/>
              </a:rPr>
              <a:t>Two-column reading order</a:t>
            </a:r>
          </a:p>
        </p:txBody>
      </p:sp>
      <p:sp>
        <p:nvSpPr>
          <p:cNvPr id="4" name="TextBox 3"/>
          <p:cNvSpPr txBox="1"/>
          <p:nvPr/>
        </p:nvSpPr>
        <p:spPr>
          <a:xfrm>
            <a:off x="530352" y="749808"/>
            <a:ext cx="10972800" cy="320040"/>
          </a:xfrm>
          <a:prstGeom prst="rect">
            <a:avLst/>
          </a:prstGeom>
          <a:noFill/>
        </p:spPr>
        <p:txBody>
          <a:bodyPr wrap="none">
            <a:spAutoFit/>
          </a:bodyPr>
          <a:lstStyle/>
          <a:p>
            <a:r>
              <a:rPr sz="1200" b="0" i="0" u="none">
                <a:solidFill>
                  <a:srgbClr val="505050"/>
                </a:solidFill>
                <a:latin typeface="Aptos"/>
              </a:rPr>
              <a:t>Expected: left title/body/list → column-break → right title/body/image/caption</a:t>
            </a:r>
          </a:p>
        </p:txBody>
      </p:sp>
      <p:sp>
        <p:nvSpPr>
          <p:cNvPr id="5" name="Rounded Rectangle 4"/>
          <p:cNvSpPr/>
          <p:nvPr/>
        </p:nvSpPr>
        <p:spPr>
          <a:xfrm>
            <a:off x="10378440" y="228600"/>
            <a:ext cx="1280160" cy="320040"/>
          </a:xfrm>
          <a:prstGeom prst="roundRect">
            <a:avLst/>
          </a:prstGeom>
          <a:solidFill>
            <a:srgbClr val="E6ECF6"/>
          </a:solidFill>
          <a:ln>
            <a:solidFill>
              <a:srgbClr val="788CA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u="none">
                <a:solidFill>
                  <a:srgbClr val="142346"/>
                </a:solidFill>
                <a:latin typeface="Aptos"/>
              </a:rPr>
              <a:t>3.6 / 4.5</a:t>
            </a:r>
          </a:p>
        </p:txBody>
      </p:sp>
      <p:sp>
        <p:nvSpPr>
          <p:cNvPr id="6" name="TextBox 5"/>
          <p:cNvSpPr txBox="1"/>
          <p:nvPr/>
        </p:nvSpPr>
        <p:spPr>
          <a:xfrm>
            <a:off x="685800" y="1143000"/>
            <a:ext cx="4846320" cy="4846320"/>
          </a:xfrm>
          <a:prstGeom prst="rect">
            <a:avLst/>
          </a:prstGeom>
          <a:noFill/>
        </p:spPr>
        <p:txBody>
          <a:bodyPr wrap="none">
            <a:spAutoFit/>
          </a:bodyPr>
          <a:lstStyle/>
          <a:p>
            <a:r>
              <a:rPr sz="1800" b="1" i="0" u="none" dirty="0">
                <a:solidFill>
                  <a:srgbClr val="1E1E1E"/>
                </a:solidFill>
                <a:latin typeface="Aptos"/>
              </a:rPr>
              <a:t>Left column: build-time normalization</a:t>
            </a:r>
          </a:p>
          <a:p>
            <a:pPr>
              <a:defRPr sz="1500"/>
            </a:pPr>
            <a:r>
              <a:rPr dirty="0"/>
              <a:t>Normalize slide shapes</a:t>
            </a:r>
          </a:p>
          <a:p>
            <a:pPr>
              <a:defRPr sz="1500"/>
            </a:pPr>
            <a:r>
              <a:rPr dirty="0"/>
              <a:t>Preserve placeholder order first</a:t>
            </a:r>
          </a:p>
          <a:p>
            <a:pPr lvl="1">
              <a:defRPr sz="1300"/>
            </a:pPr>
            <a:r>
              <a:rPr dirty="0"/>
              <a:t>Fallback to XY-Cut when placeholders are absent</a:t>
            </a:r>
          </a:p>
          <a:p>
            <a:pPr lvl="1">
              <a:defRPr sz="1300"/>
            </a:pPr>
            <a:r>
              <a:rPr dirty="0"/>
              <a:t>Emit </a:t>
            </a:r>
            <a:r>
              <a:rPr dirty="0" err="1"/>
              <a:t>spatial_group</a:t>
            </a:r>
            <a:r>
              <a:rPr dirty="0"/>
              <a:t>: 0.h0.v0</a:t>
            </a:r>
          </a:p>
        </p:txBody>
      </p:sp>
      <p:sp>
        <p:nvSpPr>
          <p:cNvPr id="7" name="TextBox 6"/>
          <p:cNvSpPr txBox="1"/>
          <p:nvPr/>
        </p:nvSpPr>
        <p:spPr>
          <a:xfrm>
            <a:off x="6446520" y="1143000"/>
            <a:ext cx="4846320" cy="1005840"/>
          </a:xfrm>
          <a:prstGeom prst="rect">
            <a:avLst/>
          </a:prstGeom>
          <a:noFill/>
        </p:spPr>
        <p:txBody>
          <a:bodyPr wrap="none">
            <a:spAutoFit/>
          </a:bodyPr>
          <a:lstStyle/>
          <a:p>
            <a:r>
              <a:rPr sz="1800" b="1" i="0" u="none">
                <a:solidFill>
                  <a:srgbClr val="1E1E1E"/>
                </a:solidFill>
                <a:latin typeface="Aptos"/>
              </a:rPr>
              <a:t>Right column: runtime extraction</a:t>
            </a:r>
          </a:p>
          <a:p>
            <a:pPr>
              <a:defRPr sz="1400"/>
            </a:pPr>
            <a:r>
              <a:t>This column is intentionally separated by a wide vertical gutter.</a:t>
            </a:r>
          </a:p>
        </p:txBody>
      </p:sp>
      <p:pic>
        <p:nvPicPr>
          <p:cNvPr id="8" name="Picture 7" descr="a_clean_flat_vector_icon_style_image_on_a_transpar_batch_3.png"/>
          <p:cNvPicPr>
            <a:picLocks noChangeAspect="1"/>
          </p:cNvPicPr>
          <p:nvPr/>
        </p:nvPicPr>
        <p:blipFill>
          <a:blip r:embed="rId2"/>
          <a:stretch>
            <a:fillRect/>
          </a:stretch>
        </p:blipFill>
        <p:spPr>
          <a:xfrm>
            <a:off x="6812280" y="2240280"/>
            <a:ext cx="1920240" cy="1920240"/>
          </a:xfrm>
          <a:prstGeom prst="rect">
            <a:avLst/>
          </a:prstGeom>
        </p:spPr>
      </p:pic>
      <p:pic>
        <p:nvPicPr>
          <p:cNvPr id="9" name="Picture 8" descr="a_clean_vector_flat_illustration_of_an_industrial_batch_1.png"/>
          <p:cNvPicPr>
            <a:picLocks noChangeAspect="1"/>
          </p:cNvPicPr>
          <p:nvPr/>
        </p:nvPicPr>
        <p:blipFill>
          <a:blip r:embed="rId3"/>
          <a:stretch>
            <a:fillRect/>
          </a:stretch>
        </p:blipFill>
        <p:spPr>
          <a:xfrm>
            <a:off x="8686800" y="2331720"/>
            <a:ext cx="2468880" cy="1508760"/>
          </a:xfrm>
          <a:prstGeom prst="rect">
            <a:avLst/>
          </a:prstGeom>
        </p:spPr>
      </p:pic>
      <p:sp>
        <p:nvSpPr>
          <p:cNvPr id="10" name="TextBox 9"/>
          <p:cNvSpPr txBox="1"/>
          <p:nvPr/>
        </p:nvSpPr>
        <p:spPr>
          <a:xfrm>
            <a:off x="6903720" y="4407408"/>
            <a:ext cx="4114800" cy="320040"/>
          </a:xfrm>
          <a:prstGeom prst="rect">
            <a:avLst/>
          </a:prstGeom>
          <a:noFill/>
        </p:spPr>
        <p:txBody>
          <a:bodyPr wrap="none">
            <a:spAutoFit/>
          </a:bodyPr>
          <a:lstStyle/>
          <a:p>
            <a:r>
              <a:rPr sz="1100" b="0" i="1" u="none">
                <a:solidFill>
                  <a:srgbClr val="1E1E1E"/>
                </a:solidFill>
                <a:latin typeface="Aptos"/>
              </a:rPr>
              <a:t>Figure 2. Two visuals should remain in right-column order.</a:t>
            </a:r>
          </a:p>
        </p:txBody>
      </p:sp>
      <p:sp>
        <p:nvSpPr>
          <p:cNvPr id="11" name="TextBox 10"/>
          <p:cNvSpPr txBox="1"/>
          <p:nvPr/>
        </p:nvSpPr>
        <p:spPr>
          <a:xfrm>
            <a:off x="457200" y="6446520"/>
            <a:ext cx="11247120" cy="228600"/>
          </a:xfrm>
          <a:prstGeom prst="rect">
            <a:avLst/>
          </a:prstGeom>
          <a:noFill/>
        </p:spPr>
        <p:txBody>
          <a:bodyPr wrap="none">
            <a:spAutoFit/>
          </a:bodyPr>
          <a:lstStyle/>
          <a:p>
            <a:r>
              <a:rPr sz="800" b="0" i="0" u="none">
                <a:solidFill>
                  <a:srgbClr val="828282"/>
                </a:solidFill>
                <a:latin typeface="Aptos"/>
              </a:rPr>
              <a:t>openxml-parser public sample / synthetic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0352" y="749808"/>
            <a:ext cx="10972800" cy="320040"/>
          </a:xfrm>
          <a:prstGeom prst="rect">
            <a:avLst/>
          </a:prstGeom>
          <a:noFill/>
        </p:spPr>
        <p:txBody>
          <a:bodyPr wrap="none">
            <a:spAutoFit/>
          </a:bodyPr>
          <a:lstStyle/>
          <a:p>
            <a:r>
              <a:rPr sz="1200" b="0" i="0" u="none" dirty="0">
                <a:solidFill>
                  <a:srgbClr val="505050"/>
                </a:solidFill>
                <a:latin typeface="Aptos"/>
              </a:rPr>
              <a:t>Expected: HTML table with </a:t>
            </a:r>
            <a:r>
              <a:rPr sz="1200" b="0" i="0" u="none" dirty="0" err="1">
                <a:solidFill>
                  <a:srgbClr val="505050"/>
                </a:solidFill>
                <a:latin typeface="Aptos"/>
              </a:rPr>
              <a:t>colspan</a:t>
            </a:r>
            <a:r>
              <a:rPr sz="1200" b="0" i="0" u="none" dirty="0">
                <a:solidFill>
                  <a:srgbClr val="505050"/>
                </a:solidFill>
                <a:latin typeface="Aptos"/>
              </a:rPr>
              <a:t> / </a:t>
            </a:r>
            <a:r>
              <a:rPr sz="1200" b="0" i="0" u="none" dirty="0" err="1">
                <a:solidFill>
                  <a:srgbClr val="505050"/>
                </a:solidFill>
                <a:latin typeface="Aptos"/>
              </a:rPr>
              <a:t>rowspan</a:t>
            </a:r>
            <a:r>
              <a:rPr sz="1200" b="0" i="0" u="none" dirty="0">
                <a:solidFill>
                  <a:srgbClr val="505050"/>
                </a:solidFill>
                <a:latin typeface="Aptos"/>
              </a:rPr>
              <a:t> preserved</a:t>
            </a:r>
          </a:p>
        </p:txBody>
      </p:sp>
      <p:sp>
        <p:nvSpPr>
          <p:cNvPr id="5" name="Rounded Rectangle 4"/>
          <p:cNvSpPr/>
          <p:nvPr/>
        </p:nvSpPr>
        <p:spPr>
          <a:xfrm>
            <a:off x="10378440" y="228600"/>
            <a:ext cx="1280160" cy="320040"/>
          </a:xfrm>
          <a:prstGeom prst="roundRect">
            <a:avLst/>
          </a:prstGeom>
          <a:solidFill>
            <a:srgbClr val="E6ECF6"/>
          </a:solidFill>
          <a:ln>
            <a:solidFill>
              <a:srgbClr val="788CA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u="none">
                <a:solidFill>
                  <a:srgbClr val="142346"/>
                </a:solidFill>
                <a:latin typeface="Aptos"/>
              </a:rPr>
              <a:t>5.1–5.9</a:t>
            </a:r>
          </a:p>
        </p:txBody>
      </p:sp>
      <p:graphicFrame>
        <p:nvGraphicFramePr>
          <p:cNvPr id="6" name="Table 5"/>
          <p:cNvGraphicFramePr>
            <a:graphicFrameLocks noGrp="1"/>
          </p:cNvGraphicFramePr>
          <p:nvPr/>
        </p:nvGraphicFramePr>
        <p:xfrm>
          <a:off x="685800" y="1234440"/>
          <a:ext cx="10789920" cy="438912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651760">
                  <a:extLst>
                    <a:ext uri="{9D8B030D-6E8A-4147-A177-3AD203B41FA5}">
                      <a16:colId xmlns:a16="http://schemas.microsoft.com/office/drawing/2014/main" val="20004"/>
                    </a:ext>
                  </a:extLst>
                </a:gridCol>
              </a:tblGrid>
              <a:tr h="731520">
                <a:tc rowSpan="2" gridSpan="2">
                  <a:txBody>
                    <a:bodyPr/>
                    <a:lstStyle/>
                    <a:p>
                      <a:r>
                        <a:rPr sz="1000" b="1" i="0" u="none">
                          <a:solidFill>
                            <a:srgbClr val="1E1E1E"/>
                          </a:solidFill>
                          <a:latin typeface="Aptos"/>
                        </a:rPr>
                        <a:t>Process</a:t>
                      </a:r>
                    </a:p>
                    <a:p>
                      <a:r>
                        <a:rPr sz="1000" b="1" i="0" u="none">
                          <a:solidFill>
                            <a:srgbClr val="1E1E1E"/>
                          </a:solidFill>
                          <a:latin typeface="Aptos"/>
                        </a:rPr>
                        <a:t>(rowspan+colspan)</a:t>
                      </a:r>
                    </a:p>
                  </a:txBody>
                  <a:tcPr/>
                </a:tc>
                <a:tc rowSpan="2" hMerge="1">
                  <a:txBody>
                    <a:bodyPr/>
                    <a:lstStyle/>
                    <a:p>
                      <a:endParaRPr/>
                    </a:p>
                  </a:txBody>
                  <a:tcPr/>
                </a:tc>
                <a:tc gridSpan="2">
                  <a:txBody>
                    <a:bodyPr/>
                    <a:lstStyle/>
                    <a:p>
                      <a:r>
                        <a:rPr sz="1000" b="1" i="0" u="none">
                          <a:solidFill>
                            <a:srgbClr val="1E1E1E"/>
                          </a:solidFill>
                          <a:latin typeface="Aptos"/>
                        </a:rPr>
                        <a:t>Quality metrics</a:t>
                      </a:r>
                    </a:p>
                  </a:txBody>
                  <a:tcPr/>
                </a:tc>
                <a:tc hMerge="1">
                  <a:txBody>
                    <a:bodyPr/>
                    <a:lstStyle/>
                    <a:p>
                      <a:endParaRPr/>
                    </a:p>
                  </a:txBody>
                  <a:tcPr/>
                </a:tc>
                <a:tc rowSpan="2">
                  <a:txBody>
                    <a:bodyPr/>
                    <a:lstStyle/>
                    <a:p>
                      <a:r>
                        <a:rPr sz="1000" b="1" i="0" u="none">
                          <a:solidFill>
                            <a:srgbClr val="1E1E1E"/>
                          </a:solidFill>
                          <a:latin typeface="Aptos"/>
                        </a:rPr>
                        <a:t>Notes</a:t>
                      </a:r>
                    </a:p>
                  </a:txBody>
                  <a:tcPr/>
                </a:tc>
                <a:extLst>
                  <a:ext uri="{0D108BD9-81ED-4DB2-BD59-A6C34878D82A}">
                    <a16:rowId xmlns:a16="http://schemas.microsoft.com/office/drawing/2014/main" val="10000"/>
                  </a:ext>
                </a:extLst>
              </a:tr>
              <a:tr h="731520">
                <a:tc gridSpan="2" vMerge="1">
                  <a:txBody>
                    <a:bodyPr/>
                    <a:lstStyle/>
                    <a:p>
                      <a:endParaRPr/>
                    </a:p>
                  </a:txBody>
                  <a:tcPr/>
                </a:tc>
                <a:tc hMerge="1" vMerge="1">
                  <a:txBody>
                    <a:bodyPr/>
                    <a:lstStyle/>
                    <a:p>
                      <a:endParaRPr/>
                    </a:p>
                  </a:txBody>
                  <a:tcPr/>
                </a:tc>
                <a:tc>
                  <a:txBody>
                    <a:bodyPr/>
                    <a:lstStyle/>
                    <a:p>
                      <a:r>
                        <a:rPr sz="1000" b="1" i="0" u="none">
                          <a:solidFill>
                            <a:srgbClr val="1E1E1E"/>
                          </a:solidFill>
                          <a:latin typeface="Aptos"/>
                        </a:rPr>
                        <a:t>Yield</a:t>
                      </a:r>
                    </a:p>
                  </a:txBody>
                  <a:tcPr/>
                </a:tc>
                <a:tc>
                  <a:txBody>
                    <a:bodyPr/>
                    <a:lstStyle/>
                    <a:p>
                      <a:r>
                        <a:rPr sz="1000" b="1" i="0" u="none">
                          <a:solidFill>
                            <a:srgbClr val="1E1E1E"/>
                          </a:solidFill>
                          <a:latin typeface="Aptos"/>
                        </a:rPr>
                        <a:t>Defect rate</a:t>
                      </a:r>
                    </a:p>
                  </a:txBody>
                  <a:tcPr/>
                </a:tc>
                <a:tc vMerge="1">
                  <a:txBody>
                    <a:bodyPr/>
                    <a:lstStyle/>
                    <a:p>
                      <a:endParaRPr/>
                    </a:p>
                  </a:txBody>
                  <a:tcPr/>
                </a:tc>
                <a:extLst>
                  <a:ext uri="{0D108BD9-81ED-4DB2-BD59-A6C34878D82A}">
                    <a16:rowId xmlns:a16="http://schemas.microsoft.com/office/drawing/2014/main" val="10001"/>
                  </a:ext>
                </a:extLst>
              </a:tr>
              <a:tr h="731520">
                <a:tc>
                  <a:txBody>
                    <a:bodyPr/>
                    <a:lstStyle/>
                    <a:p>
                      <a:r>
                        <a:rPr sz="900" b="0" i="0" u="none">
                          <a:solidFill>
                            <a:srgbClr val="1E1E1E"/>
                          </a:solidFill>
                          <a:latin typeface="Aptos"/>
                        </a:rPr>
                        <a:t>Assembly</a:t>
                      </a:r>
                    </a:p>
                  </a:txBody>
                  <a:tcPr/>
                </a:tc>
                <a:tc>
                  <a:txBody>
                    <a:bodyPr/>
                    <a:lstStyle/>
                    <a:p>
                      <a:r>
                        <a:rPr sz="900" b="0" i="0" u="none">
                          <a:solidFill>
                            <a:srgbClr val="1E1E1E"/>
                          </a:solidFill>
                          <a:latin typeface="Aptos"/>
                        </a:rPr>
                        <a:t>Cell insertion</a:t>
                      </a:r>
                    </a:p>
                  </a:txBody>
                  <a:tcPr/>
                </a:tc>
                <a:tc>
                  <a:txBody>
                    <a:bodyPr/>
                    <a:lstStyle/>
                    <a:p>
                      <a:r>
                        <a:rPr sz="900" b="0" i="0" u="none">
                          <a:solidFill>
                            <a:srgbClr val="1E1E1E"/>
                          </a:solidFill>
                          <a:latin typeface="Aptos"/>
                        </a:rPr>
                        <a:t>98.2%</a:t>
                      </a:r>
                    </a:p>
                  </a:txBody>
                  <a:tcPr/>
                </a:tc>
                <a:tc>
                  <a:txBody>
                    <a:bodyPr/>
                    <a:lstStyle/>
                    <a:p>
                      <a:r>
                        <a:rPr sz="900" b="0" i="0" u="none">
                          <a:solidFill>
                            <a:srgbClr val="1E1E1E"/>
                          </a:solidFill>
                          <a:latin typeface="Aptos"/>
                        </a:rPr>
                        <a:t>1.1%</a:t>
                      </a:r>
                    </a:p>
                  </a:txBody>
                  <a:tcPr/>
                </a:tc>
                <a:tc>
                  <a:txBody>
                    <a:bodyPr/>
                    <a:lstStyle/>
                    <a:p>
                      <a:r>
                        <a:rPr sz="900" b="0" i="0" u="none">
                          <a:solidFill>
                            <a:srgbClr val="1E1E1E"/>
                          </a:solidFill>
                          <a:latin typeface="Aptos"/>
                        </a:rPr>
                        <a:t>stable</a:t>
                      </a:r>
                    </a:p>
                  </a:txBody>
                  <a:tcPr/>
                </a:tc>
                <a:extLst>
                  <a:ext uri="{0D108BD9-81ED-4DB2-BD59-A6C34878D82A}">
                    <a16:rowId xmlns:a16="http://schemas.microsoft.com/office/drawing/2014/main" val="10002"/>
                  </a:ext>
                </a:extLst>
              </a:tr>
              <a:tr h="731520">
                <a:tc>
                  <a:txBody>
                    <a:bodyPr/>
                    <a:lstStyle/>
                    <a:p>
                      <a:r>
                        <a:rPr sz="900" b="0" i="0" u="none">
                          <a:solidFill>
                            <a:srgbClr val="1E1E1E"/>
                          </a:solidFill>
                          <a:latin typeface="Aptos"/>
                        </a:rPr>
                        <a:t>Assembly</a:t>
                      </a:r>
                    </a:p>
                  </a:txBody>
                  <a:tcPr/>
                </a:tc>
                <a:tc>
                  <a:txBody>
                    <a:bodyPr/>
                    <a:lstStyle/>
                    <a:p>
                      <a:r>
                        <a:rPr sz="900" b="0" i="0" u="none">
                          <a:solidFill>
                            <a:srgbClr val="1E1E1E"/>
                          </a:solidFill>
                          <a:latin typeface="Aptos"/>
                        </a:rPr>
                        <a:t>Welding</a:t>
                      </a:r>
                    </a:p>
                  </a:txBody>
                  <a:tcPr/>
                </a:tc>
                <a:tc>
                  <a:txBody>
                    <a:bodyPr/>
                    <a:lstStyle/>
                    <a:p>
                      <a:r>
                        <a:rPr sz="900" b="0" i="0" u="none">
                          <a:solidFill>
                            <a:srgbClr val="1E1E1E"/>
                          </a:solidFill>
                          <a:latin typeface="Aptos"/>
                        </a:rPr>
                        <a:t>97.4%</a:t>
                      </a:r>
                    </a:p>
                  </a:txBody>
                  <a:tcPr/>
                </a:tc>
                <a:tc>
                  <a:txBody>
                    <a:bodyPr/>
                    <a:lstStyle/>
                    <a:p>
                      <a:r>
                        <a:rPr sz="900" b="0" i="0" u="none">
                          <a:solidFill>
                            <a:srgbClr val="1E1E1E"/>
                          </a:solidFill>
                          <a:latin typeface="Aptos"/>
                        </a:rPr>
                        <a:t>1.8%</a:t>
                      </a:r>
                    </a:p>
                  </a:txBody>
                  <a:tcPr/>
                </a:tc>
                <a:tc>
                  <a:txBody>
                    <a:bodyPr/>
                    <a:lstStyle/>
                    <a:p>
                      <a:r>
                        <a:rPr sz="900" b="0" i="0" u="none">
                          <a:solidFill>
                            <a:srgbClr val="1E1E1E"/>
                          </a:solidFill>
                          <a:latin typeface="Aptos"/>
                        </a:rPr>
                        <a:t>monitor current</a:t>
                      </a:r>
                    </a:p>
                  </a:txBody>
                  <a:tcPr/>
                </a:tc>
                <a:extLst>
                  <a:ext uri="{0D108BD9-81ED-4DB2-BD59-A6C34878D82A}">
                    <a16:rowId xmlns:a16="http://schemas.microsoft.com/office/drawing/2014/main" val="10003"/>
                  </a:ext>
                </a:extLst>
              </a:tr>
              <a:tr h="731520">
                <a:tc>
                  <a:txBody>
                    <a:bodyPr/>
                    <a:lstStyle/>
                    <a:p>
                      <a:r>
                        <a:rPr sz="900" b="0" i="0" u="none">
                          <a:solidFill>
                            <a:srgbClr val="1E1E1E"/>
                          </a:solidFill>
                          <a:latin typeface="Aptos"/>
                        </a:rPr>
                        <a:t>Inspection</a:t>
                      </a:r>
                    </a:p>
                  </a:txBody>
                  <a:tcPr/>
                </a:tc>
                <a:tc>
                  <a:txBody>
                    <a:bodyPr/>
                    <a:lstStyle/>
                    <a:p>
                      <a:r>
                        <a:rPr sz="900" b="0" i="0" u="none">
                          <a:solidFill>
                            <a:srgbClr val="1E1E1E"/>
                          </a:solidFill>
                          <a:latin typeface="Aptos"/>
                        </a:rPr>
                        <a:t>Vision check</a:t>
                      </a:r>
                    </a:p>
                  </a:txBody>
                  <a:tcPr/>
                </a:tc>
                <a:tc>
                  <a:txBody>
                    <a:bodyPr/>
                    <a:lstStyle/>
                    <a:p>
                      <a:r>
                        <a:rPr sz="900" b="0" i="0" u="none">
                          <a:solidFill>
                            <a:srgbClr val="1E1E1E"/>
                          </a:solidFill>
                          <a:latin typeface="Aptos"/>
                        </a:rPr>
                        <a:t>99.1%</a:t>
                      </a:r>
                    </a:p>
                  </a:txBody>
                  <a:tcPr/>
                </a:tc>
                <a:tc>
                  <a:txBody>
                    <a:bodyPr/>
                    <a:lstStyle/>
                    <a:p>
                      <a:r>
                        <a:rPr sz="900" b="0" i="0" u="none">
                          <a:solidFill>
                            <a:srgbClr val="1E1E1E"/>
                          </a:solidFill>
                          <a:latin typeface="Aptos"/>
                        </a:rPr>
                        <a:t>0.4%</a:t>
                      </a:r>
                    </a:p>
                  </a:txBody>
                  <a:tcPr/>
                </a:tc>
                <a:tc>
                  <a:txBody>
                    <a:bodyPr/>
                    <a:lstStyle/>
                    <a:p>
                      <a:r>
                        <a:rPr sz="900" b="0" i="0" u="none">
                          <a:solidFill>
                            <a:srgbClr val="1E1E1E"/>
                          </a:solidFill>
                          <a:latin typeface="Aptos"/>
                        </a:rPr>
                        <a:t>caption candidate below</a:t>
                      </a:r>
                    </a:p>
                  </a:txBody>
                  <a:tcPr/>
                </a:tc>
                <a:extLst>
                  <a:ext uri="{0D108BD9-81ED-4DB2-BD59-A6C34878D82A}">
                    <a16:rowId xmlns:a16="http://schemas.microsoft.com/office/drawing/2014/main" val="10004"/>
                  </a:ext>
                </a:extLst>
              </a:tr>
              <a:tr h="731520">
                <a:tc>
                  <a:txBody>
                    <a:bodyPr/>
                    <a:lstStyle/>
                    <a:p>
                      <a:r>
                        <a:rPr sz="900" b="0" i="0" u="none">
                          <a:solidFill>
                            <a:srgbClr val="1E1E1E"/>
                          </a:solidFill>
                          <a:latin typeface="Aptos"/>
                        </a:rPr>
                        <a:t>Packaging</a:t>
                      </a:r>
                    </a:p>
                  </a:txBody>
                  <a:tcPr/>
                </a:tc>
                <a:tc>
                  <a:txBody>
                    <a:bodyPr/>
                    <a:lstStyle/>
                    <a:p>
                      <a:r>
                        <a:rPr sz="900" b="0" i="0" u="none">
                          <a:solidFill>
                            <a:srgbClr val="1E1E1E"/>
                          </a:solidFill>
                          <a:latin typeface="Aptos"/>
                        </a:rPr>
                        <a:t>Final seal</a:t>
                      </a:r>
                    </a:p>
                  </a:txBody>
                  <a:tcPr/>
                </a:tc>
                <a:tc>
                  <a:txBody>
                    <a:bodyPr/>
                    <a:lstStyle/>
                    <a:p>
                      <a:r>
                        <a:rPr sz="900" b="0" i="0" u="none">
                          <a:solidFill>
                            <a:srgbClr val="1E1E1E"/>
                          </a:solidFill>
                          <a:latin typeface="Aptos"/>
                        </a:rPr>
                        <a:t>98.7%</a:t>
                      </a:r>
                    </a:p>
                  </a:txBody>
                  <a:tcPr/>
                </a:tc>
                <a:tc>
                  <a:txBody>
                    <a:bodyPr/>
                    <a:lstStyle/>
                    <a:p>
                      <a:r>
                        <a:rPr sz="900" b="0" i="0" u="none">
                          <a:solidFill>
                            <a:srgbClr val="1E1E1E"/>
                          </a:solidFill>
                          <a:latin typeface="Aptos"/>
                        </a:rPr>
                        <a:t>0.9%</a:t>
                      </a:r>
                    </a:p>
                  </a:txBody>
                  <a:tcPr/>
                </a:tc>
                <a:tc>
                  <a:txBody>
                    <a:bodyPr/>
                    <a:lstStyle/>
                    <a:p>
                      <a:r>
                        <a:rPr sz="900" b="0" i="0" u="none">
                          <a:solidFill>
                            <a:srgbClr val="1E1E1E"/>
                          </a:solidFill>
                          <a:latin typeface="Aptos"/>
                        </a:rPr>
                        <a:t>long note with comma, quote "OK"</a:t>
                      </a:r>
                    </a:p>
                  </a:txBody>
                  <a:tcPr/>
                </a:tc>
                <a:extLst>
                  <a:ext uri="{0D108BD9-81ED-4DB2-BD59-A6C34878D82A}">
                    <a16:rowId xmlns:a16="http://schemas.microsoft.com/office/drawing/2014/main" val="10005"/>
                  </a:ext>
                </a:extLst>
              </a:tr>
            </a:tbl>
          </a:graphicData>
        </a:graphic>
      </p:graphicFrame>
      <p:sp>
        <p:nvSpPr>
          <p:cNvPr id="7" name="TextBox 6"/>
          <p:cNvSpPr txBox="1"/>
          <p:nvPr/>
        </p:nvSpPr>
        <p:spPr>
          <a:xfrm>
            <a:off x="457200" y="6446520"/>
            <a:ext cx="11247120" cy="228600"/>
          </a:xfrm>
          <a:prstGeom prst="rect">
            <a:avLst/>
          </a:prstGeom>
          <a:noFill/>
        </p:spPr>
        <p:txBody>
          <a:bodyPr wrap="none">
            <a:spAutoFit/>
          </a:bodyPr>
          <a:lstStyle/>
          <a:p>
            <a:r>
              <a:rPr sz="800" b="0" i="0" u="none">
                <a:solidFill>
                  <a:srgbClr val="828282"/>
                </a:solidFill>
                <a:latin typeface="Aptos"/>
              </a:rPr>
              <a:t>openxml-parser public sample / synthetic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28600"/>
            <a:ext cx="11155680" cy="548640"/>
          </a:xfrm>
          <a:prstGeom prst="rect">
            <a:avLst/>
          </a:prstGeom>
          <a:noFill/>
        </p:spPr>
        <p:txBody>
          <a:bodyPr wrap="none">
            <a:spAutoFit/>
          </a:bodyPr>
          <a:lstStyle/>
          <a:p>
            <a:r>
              <a:rPr sz="2800" b="1" i="0" u="none" dirty="0">
                <a:solidFill>
                  <a:srgbClr val="142346"/>
                </a:solidFill>
                <a:latin typeface="Aptos"/>
              </a:rPr>
              <a:t>Table cell containment: text, image, nested table</a:t>
            </a:r>
          </a:p>
        </p:txBody>
      </p:sp>
      <p:sp>
        <p:nvSpPr>
          <p:cNvPr id="4" name="TextBox 3"/>
          <p:cNvSpPr txBox="1"/>
          <p:nvPr/>
        </p:nvSpPr>
        <p:spPr>
          <a:xfrm>
            <a:off x="530352" y="749808"/>
            <a:ext cx="10972800" cy="320040"/>
          </a:xfrm>
          <a:prstGeom prst="rect">
            <a:avLst/>
          </a:prstGeom>
          <a:noFill/>
        </p:spPr>
        <p:txBody>
          <a:bodyPr wrap="none">
            <a:spAutoFit/>
          </a:bodyPr>
          <a:lstStyle/>
          <a:p>
            <a:r>
              <a:rPr sz="1200" b="0" i="0" u="none">
                <a:solidFill>
                  <a:srgbClr val="505050"/>
                </a:solidFill>
                <a:latin typeface="Aptos"/>
              </a:rPr>
              <a:t>Expected: nearby/inside elements absorbed into owning table cell</a:t>
            </a:r>
          </a:p>
        </p:txBody>
      </p:sp>
      <p:sp>
        <p:nvSpPr>
          <p:cNvPr id="5" name="Rounded Rectangle 4"/>
          <p:cNvSpPr/>
          <p:nvPr/>
        </p:nvSpPr>
        <p:spPr>
          <a:xfrm>
            <a:off x="10378440" y="228600"/>
            <a:ext cx="1280160" cy="320040"/>
          </a:xfrm>
          <a:prstGeom prst="roundRect">
            <a:avLst/>
          </a:prstGeom>
          <a:solidFill>
            <a:srgbClr val="E6ECF6"/>
          </a:solidFill>
          <a:ln>
            <a:solidFill>
              <a:srgbClr val="788CA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u="none">
                <a:solidFill>
                  <a:srgbClr val="142346"/>
                </a:solidFill>
                <a:latin typeface="Aptos"/>
              </a:rPr>
              <a:t>5.10–5.13</a:t>
            </a:r>
          </a:p>
        </p:txBody>
      </p:sp>
      <p:graphicFrame>
        <p:nvGraphicFramePr>
          <p:cNvPr id="6" name="Table 5"/>
          <p:cNvGraphicFramePr>
            <a:graphicFrameLocks noGrp="1"/>
          </p:cNvGraphicFramePr>
          <p:nvPr/>
        </p:nvGraphicFramePr>
        <p:xfrm>
          <a:off x="777240" y="1143000"/>
          <a:ext cx="10607040" cy="4480560"/>
        </p:xfrm>
        <a:graphic>
          <a:graphicData uri="http://schemas.openxmlformats.org/drawingml/2006/table">
            <a:tbl>
              <a:tblPr firstRow="1" bandRow="1">
                <a:tableStyleId>{5C22544A-7EE6-4342-B048-85BDC9FD1C3A}</a:tableStyleId>
              </a:tblPr>
              <a:tblGrid>
                <a:gridCol w="32918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1493520">
                <a:tc>
                  <a:txBody>
                    <a:bodyPr/>
                    <a:lstStyle/>
                    <a:p>
                      <a:r>
                        <a:rPr sz="1100" b="1" i="0" u="none">
                          <a:solidFill>
                            <a:srgbClr val="1E1E1E"/>
                          </a:solidFill>
                          <a:latin typeface="Aptos"/>
                        </a:rPr>
                        <a:t>Container cell</a:t>
                      </a:r>
                    </a:p>
                  </a:txBody>
                  <a:tcPr/>
                </a:tc>
                <a:tc>
                  <a:txBody>
                    <a:bodyPr/>
                    <a:lstStyle/>
                    <a:p>
                      <a:r>
                        <a:rPr sz="1100" b="1" i="0" u="none">
                          <a:solidFill>
                            <a:srgbClr val="1E1E1E"/>
                          </a:solidFill>
                          <a:latin typeface="Aptos"/>
                        </a:rPr>
                        <a:t>Cell with image</a:t>
                      </a:r>
                    </a:p>
                  </a:txBody>
                  <a:tcPr/>
                </a:tc>
                <a:tc>
                  <a:txBody>
                    <a:bodyPr/>
                    <a:lstStyle/>
                    <a:p>
                      <a:r>
                        <a:rPr sz="1100" b="1" i="0" u="none">
                          <a:solidFill>
                            <a:srgbClr val="1E1E1E"/>
                          </a:solidFill>
                          <a:latin typeface="Aptos"/>
                        </a:rPr>
                        <a:t>Cell with nested table</a:t>
                      </a:r>
                    </a:p>
                  </a:txBody>
                  <a:tcPr/>
                </a:tc>
                <a:extLst>
                  <a:ext uri="{0D108BD9-81ED-4DB2-BD59-A6C34878D82A}">
                    <a16:rowId xmlns:a16="http://schemas.microsoft.com/office/drawing/2014/main" val="10000"/>
                  </a:ext>
                </a:extLst>
              </a:tr>
              <a:tr h="1493520">
                <a:tc>
                  <a:txBody>
                    <a:bodyPr/>
                    <a:lstStyle/>
                    <a:p>
                      <a:r>
                        <a:t>Base cell text. A small overlay textbox below should be absorbed.</a:t>
                      </a:r>
                    </a:p>
                  </a:txBody>
                  <a:tcPr/>
                </a:tc>
                <a:tc>
                  <a:txBody>
                    <a:bodyPr/>
                    <a:lstStyle/>
                    <a:p>
                      <a:r>
                        <a:t>Image inside this cell:</a:t>
                      </a:r>
                    </a:p>
                  </a:txBody>
                  <a:tcPr/>
                </a:tc>
                <a:tc>
                  <a:txBody>
                    <a:bodyPr/>
                    <a:lstStyle/>
                    <a:p>
                      <a:r>
                        <a:t>Nested KPI table below:</a:t>
                      </a:r>
                    </a:p>
                  </a:txBody>
                  <a:tcPr/>
                </a:tc>
                <a:extLst>
                  <a:ext uri="{0D108BD9-81ED-4DB2-BD59-A6C34878D82A}">
                    <a16:rowId xmlns:a16="http://schemas.microsoft.com/office/drawing/2014/main" val="10001"/>
                  </a:ext>
                </a:extLst>
              </a:tr>
              <a:tr h="1493520">
                <a:tc>
                  <a:txBody>
                    <a:bodyPr/>
                    <a:lstStyle/>
                    <a:p>
                      <a:r>
                        <a:rPr dirty="0"/>
                        <a:t>Independent row content</a:t>
                      </a:r>
                    </a:p>
                  </a:txBody>
                  <a:tcPr/>
                </a:tc>
                <a:tc>
                  <a:txBody>
                    <a:bodyPr/>
                    <a:lstStyle/>
                    <a:p>
                      <a:r>
                        <a:t>Image caption stays inside cell if parser supports containment.</a:t>
                      </a:r>
                    </a:p>
                  </a:txBody>
                  <a:tcPr/>
                </a:tc>
                <a:tc>
                  <a:txBody>
                    <a:bodyPr/>
                    <a:lstStyle/>
                    <a:p>
                      <a:r>
                        <a:rPr dirty="0"/>
                        <a:t>Nested table is represented by a smaller table shape placed fully inside this cell.</a:t>
                      </a:r>
                    </a:p>
                  </a:txBody>
                  <a:tcPr/>
                </a:tc>
                <a:extLst>
                  <a:ext uri="{0D108BD9-81ED-4DB2-BD59-A6C34878D82A}">
                    <a16:rowId xmlns:a16="http://schemas.microsoft.com/office/drawing/2014/main" val="10002"/>
                  </a:ext>
                </a:extLst>
              </a:tr>
            </a:tbl>
          </a:graphicData>
        </a:graphic>
      </p:graphicFrame>
      <p:sp>
        <p:nvSpPr>
          <p:cNvPr id="7" name="TextBox 6"/>
          <p:cNvSpPr txBox="1"/>
          <p:nvPr/>
        </p:nvSpPr>
        <p:spPr>
          <a:xfrm>
            <a:off x="777240" y="3598164"/>
            <a:ext cx="2560320" cy="320040"/>
          </a:xfrm>
          <a:prstGeom prst="rect">
            <a:avLst/>
          </a:prstGeom>
          <a:noFill/>
        </p:spPr>
        <p:txBody>
          <a:bodyPr wrap="none">
            <a:spAutoFit/>
          </a:bodyPr>
          <a:lstStyle/>
          <a:p>
            <a:r>
              <a:rPr sz="1000" b="0" i="1" u="none" dirty="0">
                <a:solidFill>
                  <a:srgbClr val="1E1E1E"/>
                </a:solidFill>
                <a:latin typeface="Aptos"/>
              </a:rPr>
              <a:t>overlay: absorbed into cell</a:t>
            </a:r>
          </a:p>
        </p:txBody>
      </p:sp>
      <p:pic>
        <p:nvPicPr>
          <p:cNvPr id="8" name="Picture 7" descr="a_clean_flat_vector_icon_style_image_on_a_transpar_batch_3.png"/>
          <p:cNvPicPr>
            <a:picLocks noChangeAspect="1"/>
          </p:cNvPicPr>
          <p:nvPr/>
        </p:nvPicPr>
        <p:blipFill>
          <a:blip r:embed="rId2"/>
          <a:stretch>
            <a:fillRect/>
          </a:stretch>
        </p:blipFill>
        <p:spPr>
          <a:xfrm>
            <a:off x="5394960" y="2994819"/>
            <a:ext cx="1051560" cy="1051560"/>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3674628459"/>
              </p:ext>
            </p:extLst>
          </p:nvPr>
        </p:nvGraphicFramePr>
        <p:xfrm>
          <a:off x="7938419" y="3109119"/>
          <a:ext cx="2057400" cy="822960"/>
        </p:xfrm>
        <a:graphic>
          <a:graphicData uri="http://schemas.openxmlformats.org/drawingml/2006/table">
            <a:tbl>
              <a:tblPr firstRow="1" bandRow="1">
                <a:tableStyleId>{5C22544A-7EE6-4342-B048-85BDC9FD1C3A}</a:tableStyleId>
              </a:tblPr>
              <a:tblGrid>
                <a:gridCol w="10287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tblGrid>
              <a:tr h="411480">
                <a:tc>
                  <a:txBody>
                    <a:bodyPr/>
                    <a:lstStyle/>
                    <a:p>
                      <a:r>
                        <a:rPr sz="800" b="1" i="0" u="none" dirty="0">
                          <a:solidFill>
                            <a:srgbClr val="1E1E1E"/>
                          </a:solidFill>
                          <a:latin typeface="Aptos"/>
                        </a:rPr>
                        <a:t>KPI</a:t>
                      </a:r>
                    </a:p>
                  </a:txBody>
                  <a:tcPr/>
                </a:tc>
                <a:tc>
                  <a:txBody>
                    <a:bodyPr/>
                    <a:lstStyle/>
                    <a:p>
                      <a:r>
                        <a:rPr sz="800" b="1" i="0" u="none">
                          <a:solidFill>
                            <a:srgbClr val="1E1E1E"/>
                          </a:solidFill>
                          <a:latin typeface="Aptos"/>
                        </a:rPr>
                        <a:t>Value</a:t>
                      </a:r>
                    </a:p>
                  </a:txBody>
                  <a:tcPr/>
                </a:tc>
                <a:extLst>
                  <a:ext uri="{0D108BD9-81ED-4DB2-BD59-A6C34878D82A}">
                    <a16:rowId xmlns:a16="http://schemas.microsoft.com/office/drawing/2014/main" val="10000"/>
                  </a:ext>
                </a:extLst>
              </a:tr>
              <a:tr h="411480">
                <a:tc>
                  <a:txBody>
                    <a:bodyPr/>
                    <a:lstStyle/>
                    <a:p>
                      <a:r>
                        <a:rPr sz="800" b="0" i="0" u="none">
                          <a:solidFill>
                            <a:srgbClr val="1E1E1E"/>
                          </a:solidFill>
                          <a:latin typeface="Aptos"/>
                        </a:rPr>
                        <a:t>MRR@10</a:t>
                      </a:r>
                    </a:p>
                  </a:txBody>
                  <a:tcPr/>
                </a:tc>
                <a:tc>
                  <a:txBody>
                    <a:bodyPr/>
                    <a:lstStyle/>
                    <a:p>
                      <a:r>
                        <a:rPr sz="800" b="0" i="0" u="none" dirty="0">
                          <a:solidFill>
                            <a:srgbClr val="1E1E1E"/>
                          </a:solidFill>
                          <a:latin typeface="Aptos"/>
                        </a:rPr>
                        <a:t>0.73</a:t>
                      </a:r>
                    </a:p>
                  </a:txBody>
                  <a:tcPr/>
                </a:tc>
                <a:extLst>
                  <a:ext uri="{0D108BD9-81ED-4DB2-BD59-A6C34878D82A}">
                    <a16:rowId xmlns:a16="http://schemas.microsoft.com/office/drawing/2014/main" val="10001"/>
                  </a:ext>
                </a:extLst>
              </a:tr>
            </a:tbl>
          </a:graphicData>
        </a:graphic>
      </p:graphicFrame>
      <p:sp>
        <p:nvSpPr>
          <p:cNvPr id="10" name="TextBox 9"/>
          <p:cNvSpPr txBox="1"/>
          <p:nvPr/>
        </p:nvSpPr>
        <p:spPr>
          <a:xfrm>
            <a:off x="457200" y="6446520"/>
            <a:ext cx="11247120" cy="228600"/>
          </a:xfrm>
          <a:prstGeom prst="rect">
            <a:avLst/>
          </a:prstGeom>
          <a:noFill/>
        </p:spPr>
        <p:txBody>
          <a:bodyPr wrap="none">
            <a:spAutoFit/>
          </a:bodyPr>
          <a:lstStyle/>
          <a:p>
            <a:r>
              <a:rPr sz="800" b="0" i="0" u="none">
                <a:solidFill>
                  <a:srgbClr val="828282"/>
                </a:solidFill>
                <a:latin typeface="Aptos"/>
              </a:rPr>
              <a:t>openxml-parser public sample / synthetic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28600"/>
            <a:ext cx="11155680" cy="548640"/>
          </a:xfrm>
          <a:prstGeom prst="rect">
            <a:avLst/>
          </a:prstGeom>
          <a:noFill/>
        </p:spPr>
        <p:txBody>
          <a:bodyPr wrap="none">
            <a:spAutoFit/>
          </a:bodyPr>
          <a:lstStyle/>
          <a:p>
            <a:r>
              <a:rPr sz="2800" b="1" i="0" u="none">
                <a:solidFill>
                  <a:srgbClr val="142346"/>
                </a:solidFill>
                <a:latin typeface="Aptos"/>
              </a:rPr>
              <a:t>Text runs: formatting, run merge, dominant style suppression</a:t>
            </a:r>
          </a:p>
        </p:txBody>
      </p:sp>
      <p:sp>
        <p:nvSpPr>
          <p:cNvPr id="4" name="TextBox 3"/>
          <p:cNvSpPr txBox="1"/>
          <p:nvPr/>
        </p:nvSpPr>
        <p:spPr>
          <a:xfrm>
            <a:off x="530352" y="749808"/>
            <a:ext cx="10972800" cy="320040"/>
          </a:xfrm>
          <a:prstGeom prst="rect">
            <a:avLst/>
          </a:prstGeom>
          <a:noFill/>
        </p:spPr>
        <p:txBody>
          <a:bodyPr wrap="none">
            <a:spAutoFit/>
          </a:bodyPr>
          <a:lstStyle/>
          <a:p>
            <a:r>
              <a:rPr sz="1200" b="0" i="0" u="none">
                <a:solidFill>
                  <a:srgbClr val="505050"/>
                </a:solidFill>
                <a:latin typeface="Aptos"/>
              </a:rPr>
              <a:t>Expected: bold/italic/underline/composite preserved; all-bold title not over-marked</a:t>
            </a:r>
          </a:p>
        </p:txBody>
      </p:sp>
      <p:sp>
        <p:nvSpPr>
          <p:cNvPr id="5" name="Rounded Rectangle 4"/>
          <p:cNvSpPr/>
          <p:nvPr/>
        </p:nvSpPr>
        <p:spPr>
          <a:xfrm>
            <a:off x="10378440" y="228600"/>
            <a:ext cx="1280160" cy="320040"/>
          </a:xfrm>
          <a:prstGeom prst="roundRect">
            <a:avLst/>
          </a:prstGeom>
          <a:solidFill>
            <a:srgbClr val="E6ECF6"/>
          </a:solidFill>
          <a:ln>
            <a:solidFill>
              <a:srgbClr val="788CA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u="none">
                <a:solidFill>
                  <a:srgbClr val="142346"/>
                </a:solidFill>
                <a:latin typeface="Aptos"/>
              </a:rPr>
              <a:t>6.1–6.6</a:t>
            </a:r>
          </a:p>
        </p:txBody>
      </p:sp>
      <p:sp>
        <p:nvSpPr>
          <p:cNvPr id="6" name="TextBox 5"/>
          <p:cNvSpPr txBox="1"/>
          <p:nvPr/>
        </p:nvSpPr>
        <p:spPr>
          <a:xfrm>
            <a:off x="777240" y="1143000"/>
            <a:ext cx="10698480" cy="4937760"/>
          </a:xfrm>
          <a:prstGeom prst="rect">
            <a:avLst/>
          </a:prstGeom>
          <a:noFill/>
        </p:spPr>
        <p:txBody>
          <a:bodyPr wrap="none">
            <a:spAutoFit/>
          </a:bodyPr>
          <a:lstStyle/>
          <a:p>
            <a:r>
              <a:rPr sz="1600" b="0" i="0" u="none" dirty="0">
                <a:solidFill>
                  <a:srgbClr val="1E1E1E"/>
                </a:solidFill>
                <a:latin typeface="Aptos"/>
              </a:rPr>
              <a:t>Normal text, </a:t>
            </a:r>
            <a:r>
              <a:rPr sz="1600" b="1" i="0" u="none" dirty="0">
                <a:solidFill>
                  <a:srgbClr val="1E1E1E"/>
                </a:solidFill>
                <a:latin typeface="Aptos"/>
              </a:rPr>
              <a:t>bold</a:t>
            </a:r>
            <a:r>
              <a:rPr sz="1600" b="0" i="0" u="none" dirty="0">
                <a:solidFill>
                  <a:srgbClr val="1E1E1E"/>
                </a:solidFill>
                <a:latin typeface="Aptos"/>
              </a:rPr>
              <a:t>, </a:t>
            </a:r>
            <a:r>
              <a:rPr sz="1600" b="0" i="1" u="none" dirty="0">
                <a:solidFill>
                  <a:srgbClr val="1E1E1E"/>
                </a:solidFill>
                <a:latin typeface="Aptos"/>
              </a:rPr>
              <a:t>italic</a:t>
            </a:r>
            <a:r>
              <a:rPr sz="1600" b="0" i="0" u="none" dirty="0">
                <a:solidFill>
                  <a:srgbClr val="1E1E1E"/>
                </a:solidFill>
                <a:latin typeface="Aptos"/>
              </a:rPr>
              <a:t>, </a:t>
            </a:r>
            <a:r>
              <a:rPr sz="1600" b="0" i="0" u="sng" dirty="0">
                <a:solidFill>
                  <a:srgbClr val="1E1E1E"/>
                </a:solidFill>
                <a:latin typeface="Aptos"/>
              </a:rPr>
              <a:t>underline</a:t>
            </a:r>
            <a:r>
              <a:rPr sz="1600" b="0" i="0" u="none" dirty="0">
                <a:solidFill>
                  <a:srgbClr val="1E1E1E"/>
                </a:solidFill>
                <a:latin typeface="Aptos"/>
              </a:rPr>
              <a:t>, and </a:t>
            </a:r>
            <a:r>
              <a:rPr sz="1600" b="1" i="1" u="sng" dirty="0" err="1">
                <a:solidFill>
                  <a:srgbClr val="1E1E1E"/>
                </a:solidFill>
                <a:latin typeface="Aptos"/>
              </a:rPr>
              <a:t>bold+italic+underline</a:t>
            </a:r>
            <a:r>
              <a:rPr sz="1600" b="0" i="0" u="none" dirty="0">
                <a:solidFill>
                  <a:srgbClr val="1E1E1E"/>
                </a:solidFill>
                <a:latin typeface="Aptos"/>
              </a:rPr>
              <a:t> in one paragraph.</a:t>
            </a:r>
          </a:p>
          <a:p>
            <a:endParaRPr sz="1600" b="0" i="0" u="none" dirty="0">
              <a:solidFill>
                <a:srgbClr val="1E1E1E"/>
              </a:solidFill>
              <a:latin typeface="Aptos"/>
            </a:endParaRPr>
          </a:p>
          <a:p>
            <a:r>
              <a:rPr sz="1600" b="1" i="0" u="none" dirty="0">
                <a:solidFill>
                  <a:srgbClr val="1E1E1E"/>
                </a:solidFill>
                <a:latin typeface="Aptos"/>
              </a:rPr>
              <a:t>ADJACENT BOLD RUNS SHOULD MERGE</a:t>
            </a:r>
          </a:p>
          <a:p>
            <a:r>
              <a:rPr sz="1800" b="1" i="0" u="none" dirty="0">
                <a:solidFill>
                  <a:srgbClr val="1E1E1E"/>
                </a:solidFill>
                <a:latin typeface="Aptos"/>
              </a:rPr>
              <a:t>Dominant all-bold heading should not become excessive Markdown: **every token**</a:t>
            </a:r>
          </a:p>
          <a:p>
            <a:r>
              <a:rPr sz="1600" b="0" i="0" u="none" dirty="0">
                <a:solidFill>
                  <a:srgbClr val="1E1E1E"/>
                </a:solidFill>
                <a:latin typeface="Aptos"/>
              </a:rPr>
              <a:t>Mixed paragraph with </a:t>
            </a:r>
            <a:r>
              <a:rPr sz="1600" b="1" i="0" u="none" dirty="0">
                <a:solidFill>
                  <a:srgbClr val="1E1E1E"/>
                </a:solidFill>
                <a:latin typeface="Aptos"/>
              </a:rPr>
              <a:t>one emphasized phrase</a:t>
            </a:r>
            <a:r>
              <a:rPr sz="1600" b="0" i="0" u="none" dirty="0">
                <a:solidFill>
                  <a:srgbClr val="1E1E1E"/>
                </a:solidFill>
                <a:latin typeface="Aptos"/>
              </a:rPr>
              <a:t> and plain suffix.</a:t>
            </a:r>
          </a:p>
        </p:txBody>
      </p:sp>
      <p:sp>
        <p:nvSpPr>
          <p:cNvPr id="7" name="TextBox 6"/>
          <p:cNvSpPr txBox="1"/>
          <p:nvPr/>
        </p:nvSpPr>
        <p:spPr>
          <a:xfrm>
            <a:off x="457200" y="6446520"/>
            <a:ext cx="11247120" cy="228600"/>
          </a:xfrm>
          <a:prstGeom prst="rect">
            <a:avLst/>
          </a:prstGeom>
          <a:noFill/>
        </p:spPr>
        <p:txBody>
          <a:bodyPr wrap="none">
            <a:spAutoFit/>
          </a:bodyPr>
          <a:lstStyle/>
          <a:p>
            <a:r>
              <a:rPr sz="800" b="0" i="0" u="none">
                <a:solidFill>
                  <a:srgbClr val="828282"/>
                </a:solidFill>
                <a:latin typeface="Aptos"/>
              </a:rPr>
              <a:t>openxml-parser public sample / synthetic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28600"/>
            <a:ext cx="11155680" cy="548640"/>
          </a:xfrm>
          <a:prstGeom prst="rect">
            <a:avLst/>
          </a:prstGeom>
          <a:noFill/>
        </p:spPr>
        <p:txBody>
          <a:bodyPr wrap="none">
            <a:spAutoFit/>
          </a:bodyPr>
          <a:lstStyle/>
          <a:p>
            <a:r>
              <a:rPr sz="2800" b="1" i="0" u="none" dirty="0">
                <a:solidFill>
                  <a:srgbClr val="142346"/>
                </a:solidFill>
                <a:latin typeface="Aptos"/>
              </a:rPr>
              <a:t>Lists and numbering styles</a:t>
            </a:r>
          </a:p>
        </p:txBody>
      </p:sp>
      <p:sp>
        <p:nvSpPr>
          <p:cNvPr id="4" name="TextBox 3"/>
          <p:cNvSpPr txBox="1"/>
          <p:nvPr/>
        </p:nvSpPr>
        <p:spPr>
          <a:xfrm>
            <a:off x="530352" y="749808"/>
            <a:ext cx="10972800" cy="320040"/>
          </a:xfrm>
          <a:prstGeom prst="rect">
            <a:avLst/>
          </a:prstGeom>
          <a:noFill/>
        </p:spPr>
        <p:txBody>
          <a:bodyPr wrap="none">
            <a:spAutoFit/>
          </a:bodyPr>
          <a:lstStyle/>
          <a:p>
            <a:r>
              <a:rPr sz="1200" b="0" i="0" u="none" dirty="0">
                <a:solidFill>
                  <a:srgbClr val="505050"/>
                </a:solidFill>
                <a:latin typeface="Aptos"/>
              </a:rPr>
              <a:t>Expected: </a:t>
            </a:r>
            <a:r>
              <a:rPr sz="1200" b="0" i="0" u="none" dirty="0" err="1">
                <a:solidFill>
                  <a:srgbClr val="505050"/>
                </a:solidFill>
                <a:latin typeface="Aptos"/>
              </a:rPr>
              <a:t>arabic</a:t>
            </a:r>
            <a:r>
              <a:rPr sz="1200" b="0" i="0" u="none" dirty="0">
                <a:solidFill>
                  <a:srgbClr val="505050"/>
                </a:solidFill>
                <a:latin typeface="Aptos"/>
              </a:rPr>
              <a:t>, circle numbers, alpha/roman, bullets, nested levels</a:t>
            </a:r>
          </a:p>
        </p:txBody>
      </p:sp>
      <p:sp>
        <p:nvSpPr>
          <p:cNvPr id="5" name="Rounded Rectangle 4"/>
          <p:cNvSpPr/>
          <p:nvPr/>
        </p:nvSpPr>
        <p:spPr>
          <a:xfrm>
            <a:off x="10378440" y="228600"/>
            <a:ext cx="1280160" cy="320040"/>
          </a:xfrm>
          <a:prstGeom prst="roundRect">
            <a:avLst/>
          </a:prstGeom>
          <a:solidFill>
            <a:srgbClr val="E6ECF6"/>
          </a:solidFill>
          <a:ln>
            <a:solidFill>
              <a:srgbClr val="788CA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u="none">
                <a:solidFill>
                  <a:srgbClr val="142346"/>
                </a:solidFill>
                <a:latin typeface="Aptos"/>
              </a:rPr>
              <a:t>6.7–6.11</a:t>
            </a:r>
          </a:p>
        </p:txBody>
      </p:sp>
      <p:sp>
        <p:nvSpPr>
          <p:cNvPr id="6" name="TextBox 5"/>
          <p:cNvSpPr txBox="1"/>
          <p:nvPr/>
        </p:nvSpPr>
        <p:spPr>
          <a:xfrm>
            <a:off x="731520" y="1143000"/>
            <a:ext cx="5212080" cy="5029200"/>
          </a:xfrm>
          <a:prstGeom prst="rect">
            <a:avLst/>
          </a:prstGeom>
          <a:noFill/>
        </p:spPr>
        <p:txBody>
          <a:bodyPr wrap="none">
            <a:spAutoFit/>
          </a:bodyPr>
          <a:lstStyle/>
          <a:p>
            <a:pPr>
              <a:defRPr sz="1600"/>
            </a:pPr>
            <a:r>
              <a:t>1. First arabicPeriod item</a:t>
            </a:r>
          </a:p>
          <a:p>
            <a:pPr>
              <a:defRPr sz="1600"/>
            </a:pPr>
            <a:r>
              <a:t>2. Second arabicPeriod item</a:t>
            </a:r>
          </a:p>
          <a:p>
            <a:pPr>
              <a:defRPr sz="1600"/>
            </a:pPr>
            <a:r>
              <a:t>① circleNumDbPlain item</a:t>
            </a:r>
          </a:p>
          <a:p>
            <a:pPr>
              <a:defRPr sz="1600"/>
            </a:pPr>
            <a:r>
              <a:t>② second circled item</a:t>
            </a:r>
          </a:p>
          <a:p>
            <a:pPr>
              <a:defRPr sz="1600"/>
            </a:pPr>
            <a:r>
              <a:t>a. alpha lower item</a:t>
            </a:r>
          </a:p>
          <a:p>
            <a:pPr>
              <a:defRPr sz="1600"/>
            </a:pPr>
            <a:r>
              <a:t>I. roman upper item</a:t>
            </a:r>
          </a:p>
        </p:txBody>
      </p:sp>
      <p:sp>
        <p:nvSpPr>
          <p:cNvPr id="7" name="TextBox 6"/>
          <p:cNvSpPr txBox="1"/>
          <p:nvPr/>
        </p:nvSpPr>
        <p:spPr>
          <a:xfrm>
            <a:off x="6400800" y="1143000"/>
            <a:ext cx="5029200" cy="5029200"/>
          </a:xfrm>
          <a:prstGeom prst="rect">
            <a:avLst/>
          </a:prstGeom>
          <a:noFill/>
        </p:spPr>
        <p:txBody>
          <a:bodyPr wrap="none">
            <a:spAutoFit/>
          </a:bodyPr>
          <a:lstStyle/>
          <a:p>
            <a:pPr>
              <a:defRPr sz="1600"/>
            </a:pPr>
            <a:r>
              <a:t>• top-level bullet</a:t>
            </a:r>
          </a:p>
          <a:p>
            <a:pPr lvl="1">
              <a:defRPr sz="1500"/>
            </a:pPr>
            <a:r>
              <a:t>◦ nested bullet level 1</a:t>
            </a:r>
          </a:p>
          <a:p>
            <a:pPr lvl="2">
              <a:defRPr sz="1400"/>
            </a:pPr>
            <a:r>
              <a:t>▪ nested bullet level 2</a:t>
            </a:r>
          </a:p>
          <a:p>
            <a:pPr>
              <a:defRPr sz="1600"/>
            </a:pPr>
            <a:r>
              <a:t>• another top-level bullet</a:t>
            </a:r>
          </a:p>
        </p:txBody>
      </p:sp>
      <p:sp>
        <p:nvSpPr>
          <p:cNvPr id="8" name="TextBox 7"/>
          <p:cNvSpPr txBox="1"/>
          <p:nvPr/>
        </p:nvSpPr>
        <p:spPr>
          <a:xfrm>
            <a:off x="457200" y="6446520"/>
            <a:ext cx="11247120" cy="228600"/>
          </a:xfrm>
          <a:prstGeom prst="rect">
            <a:avLst/>
          </a:prstGeom>
          <a:noFill/>
        </p:spPr>
        <p:txBody>
          <a:bodyPr wrap="none">
            <a:spAutoFit/>
          </a:bodyPr>
          <a:lstStyle/>
          <a:p>
            <a:r>
              <a:rPr sz="800" b="0" i="0" u="none">
                <a:solidFill>
                  <a:srgbClr val="828282"/>
                </a:solidFill>
                <a:latin typeface="Aptos"/>
              </a:rPr>
              <a:t>openxml-parser public sample / synthetic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28600"/>
            <a:ext cx="11155680" cy="548640"/>
          </a:xfrm>
          <a:prstGeom prst="rect">
            <a:avLst/>
          </a:prstGeom>
          <a:noFill/>
        </p:spPr>
        <p:txBody>
          <a:bodyPr wrap="none">
            <a:spAutoFit/>
          </a:bodyPr>
          <a:lstStyle/>
          <a:p>
            <a:r>
              <a:rPr sz="2800" b="1" i="0" u="none">
                <a:solidFill>
                  <a:srgbClr val="142346"/>
                </a:solidFill>
                <a:latin typeface="Aptos"/>
              </a:rPr>
              <a:t>Images: extraction, crop, annotation absorption</a:t>
            </a:r>
          </a:p>
        </p:txBody>
      </p:sp>
      <p:sp>
        <p:nvSpPr>
          <p:cNvPr id="4" name="TextBox 3"/>
          <p:cNvSpPr txBox="1"/>
          <p:nvPr/>
        </p:nvSpPr>
        <p:spPr>
          <a:xfrm>
            <a:off x="530352" y="749808"/>
            <a:ext cx="10972800" cy="320040"/>
          </a:xfrm>
          <a:prstGeom prst="rect">
            <a:avLst/>
          </a:prstGeom>
          <a:noFill/>
        </p:spPr>
        <p:txBody>
          <a:bodyPr wrap="none">
            <a:spAutoFit/>
          </a:bodyPr>
          <a:lstStyle/>
          <a:p>
            <a:r>
              <a:rPr sz="1200" b="0" i="0" u="none">
                <a:solidFill>
                  <a:srgbClr val="505050"/>
                </a:solidFill>
                <a:latin typeface="Aptos"/>
              </a:rPr>
              <a:t>Expected: relative_path, crop metadata, short label absorbed, long text independent</a:t>
            </a:r>
          </a:p>
        </p:txBody>
      </p:sp>
      <p:sp>
        <p:nvSpPr>
          <p:cNvPr id="5" name="Rounded Rectangle 4"/>
          <p:cNvSpPr/>
          <p:nvPr/>
        </p:nvSpPr>
        <p:spPr>
          <a:xfrm>
            <a:off x="10378440" y="228600"/>
            <a:ext cx="1280160" cy="320040"/>
          </a:xfrm>
          <a:prstGeom prst="roundRect">
            <a:avLst/>
          </a:prstGeom>
          <a:solidFill>
            <a:srgbClr val="E6ECF6"/>
          </a:solidFill>
          <a:ln>
            <a:solidFill>
              <a:srgbClr val="788CA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u="none">
                <a:solidFill>
                  <a:srgbClr val="142346"/>
                </a:solidFill>
                <a:latin typeface="Aptos"/>
              </a:rPr>
              <a:t>7.1–7.6</a:t>
            </a:r>
          </a:p>
        </p:txBody>
      </p:sp>
      <p:pic>
        <p:nvPicPr>
          <p:cNvPr id="6" name="Picture 5" descr="a_clean_vector_flat_illustration_of_an_industrial_batch_1.png"/>
          <p:cNvPicPr>
            <a:picLocks noChangeAspect="1"/>
          </p:cNvPicPr>
          <p:nvPr/>
        </p:nvPicPr>
        <p:blipFill>
          <a:blip r:embed="rId2"/>
          <a:stretch>
            <a:fillRect/>
          </a:stretch>
        </p:blipFill>
        <p:spPr>
          <a:xfrm>
            <a:off x="777240" y="1234440"/>
            <a:ext cx="3749039" cy="2240280"/>
          </a:xfrm>
          <a:prstGeom prst="rect">
            <a:avLst/>
          </a:prstGeom>
        </p:spPr>
      </p:pic>
      <p:sp>
        <p:nvSpPr>
          <p:cNvPr id="7" name="TextBox 6"/>
          <p:cNvSpPr txBox="1"/>
          <p:nvPr/>
        </p:nvSpPr>
        <p:spPr>
          <a:xfrm>
            <a:off x="868680" y="3611880"/>
            <a:ext cx="3657600" cy="274320"/>
          </a:xfrm>
          <a:prstGeom prst="rect">
            <a:avLst/>
          </a:prstGeom>
          <a:noFill/>
        </p:spPr>
        <p:txBody>
          <a:bodyPr wrap="none">
            <a:spAutoFit/>
          </a:bodyPr>
          <a:lstStyle/>
          <a:p>
            <a:r>
              <a:rPr sz="1100" b="0" i="1" u="none">
                <a:solidFill>
                  <a:srgbClr val="1E1E1E"/>
                </a:solidFill>
                <a:latin typeface="Aptos"/>
              </a:rPr>
              <a:t>Figure 3. Original inspection image.</a:t>
            </a:r>
          </a:p>
        </p:txBody>
      </p:sp>
      <p:pic>
        <p:nvPicPr>
          <p:cNvPr id="8" name="Picture 7" descr="a_clean_flat_vector_illustration_on_a_white_backgr_batch_2.png"/>
          <p:cNvPicPr>
            <a:picLocks noChangeAspect="1"/>
          </p:cNvPicPr>
          <p:nvPr/>
        </p:nvPicPr>
        <p:blipFill>
          <a:blip r:embed="rId3"/>
          <a:srcRect l="16000" t="10000" r="18000" b="6000"/>
          <a:stretch>
            <a:fillRect/>
          </a:stretch>
        </p:blipFill>
        <p:spPr>
          <a:xfrm>
            <a:off x="5715000" y="1234440"/>
            <a:ext cx="4389120" cy="2286000"/>
          </a:xfrm>
          <a:prstGeom prst="rect">
            <a:avLst/>
          </a:prstGeom>
        </p:spPr>
      </p:pic>
      <p:sp>
        <p:nvSpPr>
          <p:cNvPr id="9" name="TextBox 8"/>
          <p:cNvSpPr txBox="1"/>
          <p:nvPr/>
        </p:nvSpPr>
        <p:spPr>
          <a:xfrm>
            <a:off x="5943600" y="1417320"/>
            <a:ext cx="1143000" cy="256032"/>
          </a:xfrm>
          <a:prstGeom prst="rect">
            <a:avLst/>
          </a:prstGeom>
          <a:noFill/>
        </p:spPr>
        <p:txBody>
          <a:bodyPr wrap="none">
            <a:spAutoFit/>
          </a:bodyPr>
          <a:lstStyle/>
          <a:p>
            <a:r>
              <a:rPr sz="1000" b="0" i="1" u="none">
                <a:solidFill>
                  <a:srgbClr val="1E1E1E"/>
                </a:solidFill>
                <a:latin typeface="Aptos"/>
              </a:rPr>
              <a:t>AI chip</a:t>
            </a:r>
          </a:p>
        </p:txBody>
      </p:sp>
      <p:sp>
        <p:nvSpPr>
          <p:cNvPr id="10" name="TextBox 9"/>
          <p:cNvSpPr txBox="1"/>
          <p:nvPr/>
        </p:nvSpPr>
        <p:spPr>
          <a:xfrm>
            <a:off x="5623560" y="3749039"/>
            <a:ext cx="4937760" cy="594360"/>
          </a:xfrm>
          <a:prstGeom prst="rect">
            <a:avLst/>
          </a:prstGeom>
          <a:noFill/>
        </p:spPr>
        <p:txBody>
          <a:bodyPr wrap="none">
            <a:spAutoFit/>
          </a:bodyPr>
          <a:lstStyle/>
          <a:p>
            <a:r>
              <a:rPr sz="1100" b="0" i="0" u="none" dirty="0">
                <a:solidFill>
                  <a:srgbClr val="1E1E1E"/>
                </a:solidFill>
                <a:latin typeface="Aptos"/>
              </a:rPr>
              <a:t>This long explanatory text is intentionally above the annotation length threshold and should remain an independent paragraph rather than an image label.</a:t>
            </a:r>
          </a:p>
        </p:txBody>
      </p:sp>
      <p:sp>
        <p:nvSpPr>
          <p:cNvPr id="11" name="TextBox 10"/>
          <p:cNvSpPr txBox="1"/>
          <p:nvPr/>
        </p:nvSpPr>
        <p:spPr>
          <a:xfrm>
            <a:off x="457200" y="6446520"/>
            <a:ext cx="11247120" cy="228600"/>
          </a:xfrm>
          <a:prstGeom prst="rect">
            <a:avLst/>
          </a:prstGeom>
          <a:noFill/>
        </p:spPr>
        <p:txBody>
          <a:bodyPr wrap="none">
            <a:spAutoFit/>
          </a:bodyPr>
          <a:lstStyle/>
          <a:p>
            <a:r>
              <a:rPr sz="800" b="0" i="0" u="none">
                <a:solidFill>
                  <a:srgbClr val="828282"/>
                </a:solidFill>
                <a:latin typeface="Aptos"/>
              </a:rPr>
              <a:t>openxml-parser public sample / synthetic data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28600"/>
            <a:ext cx="11155680" cy="548640"/>
          </a:xfrm>
          <a:prstGeom prst="rect">
            <a:avLst/>
          </a:prstGeom>
          <a:noFill/>
        </p:spPr>
        <p:txBody>
          <a:bodyPr wrap="none">
            <a:spAutoFit/>
          </a:bodyPr>
          <a:lstStyle/>
          <a:p>
            <a:r>
              <a:rPr sz="2800" b="1" i="0" u="none">
                <a:solidFill>
                  <a:srgbClr val="142346"/>
                </a:solidFill>
                <a:latin typeface="Aptos"/>
              </a:rPr>
              <a:t>Relation inference: caption_of, title_of, conflict resolution</a:t>
            </a:r>
          </a:p>
        </p:txBody>
      </p:sp>
      <p:sp>
        <p:nvSpPr>
          <p:cNvPr id="4" name="TextBox 3"/>
          <p:cNvSpPr txBox="1"/>
          <p:nvPr/>
        </p:nvSpPr>
        <p:spPr>
          <a:xfrm>
            <a:off x="530352" y="749808"/>
            <a:ext cx="10972800" cy="320040"/>
          </a:xfrm>
          <a:prstGeom prst="rect">
            <a:avLst/>
          </a:prstGeom>
          <a:noFill/>
        </p:spPr>
        <p:txBody>
          <a:bodyPr wrap="none">
            <a:spAutoFit/>
          </a:bodyPr>
          <a:lstStyle/>
          <a:p>
            <a:r>
              <a:rPr sz="1200" b="0" i="0" u="none">
                <a:solidFill>
                  <a:srgbClr val="505050"/>
                </a:solidFill>
                <a:latin typeface="Aptos"/>
              </a:rPr>
              <a:t>Expected: one caption chooses nearest/best visual; title_of links short heading to visual</a:t>
            </a:r>
          </a:p>
        </p:txBody>
      </p:sp>
      <p:sp>
        <p:nvSpPr>
          <p:cNvPr id="5" name="Rounded Rectangle 4"/>
          <p:cNvSpPr/>
          <p:nvPr/>
        </p:nvSpPr>
        <p:spPr>
          <a:xfrm>
            <a:off x="10378440" y="228600"/>
            <a:ext cx="1280160" cy="320040"/>
          </a:xfrm>
          <a:prstGeom prst="roundRect">
            <a:avLst/>
          </a:prstGeom>
          <a:solidFill>
            <a:srgbClr val="E6ECF6"/>
          </a:solidFill>
          <a:ln>
            <a:solidFill>
              <a:srgbClr val="788CA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u="none">
                <a:solidFill>
                  <a:srgbClr val="142346"/>
                </a:solidFill>
                <a:latin typeface="Aptos"/>
              </a:rPr>
              <a:t>9.1–9.7</a:t>
            </a:r>
          </a:p>
        </p:txBody>
      </p:sp>
      <p:sp>
        <p:nvSpPr>
          <p:cNvPr id="6" name="TextBox 5"/>
          <p:cNvSpPr txBox="1"/>
          <p:nvPr/>
        </p:nvSpPr>
        <p:spPr>
          <a:xfrm>
            <a:off x="731520" y="1078992"/>
            <a:ext cx="4114800" cy="365760"/>
          </a:xfrm>
          <a:prstGeom prst="rect">
            <a:avLst/>
          </a:prstGeom>
          <a:noFill/>
        </p:spPr>
        <p:txBody>
          <a:bodyPr wrap="none">
            <a:spAutoFit/>
          </a:bodyPr>
          <a:lstStyle/>
          <a:p>
            <a:r>
              <a:rPr sz="1800" b="1" i="0" u="none">
                <a:solidFill>
                  <a:srgbClr val="1E1E1E"/>
                </a:solidFill>
                <a:latin typeface="Aptos"/>
              </a:rPr>
              <a:t>Vision Inspection Result</a:t>
            </a:r>
          </a:p>
        </p:txBody>
      </p:sp>
      <p:pic>
        <p:nvPicPr>
          <p:cNvPr id="7" name="Picture 6" descr="a_clean_vector_flat_illustration_of_an_industrial_batch_1.png"/>
          <p:cNvPicPr>
            <a:picLocks noChangeAspect="1"/>
          </p:cNvPicPr>
          <p:nvPr/>
        </p:nvPicPr>
        <p:blipFill>
          <a:blip r:embed="rId2"/>
          <a:stretch>
            <a:fillRect/>
          </a:stretch>
        </p:blipFill>
        <p:spPr>
          <a:xfrm>
            <a:off x="777240" y="1600200"/>
            <a:ext cx="3840480" cy="2331720"/>
          </a:xfrm>
          <a:prstGeom prst="rect">
            <a:avLst/>
          </a:prstGeom>
        </p:spPr>
      </p:pic>
      <p:pic>
        <p:nvPicPr>
          <p:cNvPr id="8" name="Picture 7" descr="a_clean_flat_vector_illustration_on_a_white_backgr_batch_2.png"/>
          <p:cNvPicPr>
            <a:picLocks noChangeAspect="1"/>
          </p:cNvPicPr>
          <p:nvPr/>
        </p:nvPicPr>
        <p:blipFill>
          <a:blip r:embed="rId3"/>
          <a:stretch>
            <a:fillRect/>
          </a:stretch>
        </p:blipFill>
        <p:spPr>
          <a:xfrm>
            <a:off x="6035040" y="1600200"/>
            <a:ext cx="3840480" cy="2331720"/>
          </a:xfrm>
          <a:prstGeom prst="rect">
            <a:avLst/>
          </a:prstGeom>
        </p:spPr>
      </p:pic>
      <p:sp>
        <p:nvSpPr>
          <p:cNvPr id="9" name="TextBox 8"/>
          <p:cNvSpPr txBox="1"/>
          <p:nvPr/>
        </p:nvSpPr>
        <p:spPr>
          <a:xfrm>
            <a:off x="2971800" y="4224528"/>
            <a:ext cx="5029200" cy="320040"/>
          </a:xfrm>
          <a:prstGeom prst="rect">
            <a:avLst/>
          </a:prstGeom>
          <a:noFill/>
        </p:spPr>
        <p:txBody>
          <a:bodyPr wrap="none">
            <a:spAutoFit/>
          </a:bodyPr>
          <a:lstStyle/>
          <a:p>
            <a:r>
              <a:rPr sz="1100" b="0" i="1" u="none">
                <a:solidFill>
                  <a:srgbClr val="1E1E1E"/>
                </a:solidFill>
                <a:latin typeface="Aptos"/>
              </a:rPr>
              <a:t>Figure 4. Shared caption is closer to the left image, but horizontally between two visuals.</a:t>
            </a:r>
          </a:p>
        </p:txBody>
      </p:sp>
      <p:sp>
        <p:nvSpPr>
          <p:cNvPr id="10" name="TextBox 9"/>
          <p:cNvSpPr txBox="1"/>
          <p:nvPr/>
        </p:nvSpPr>
        <p:spPr>
          <a:xfrm>
            <a:off x="6355080" y="4526280"/>
            <a:ext cx="3246120" cy="274320"/>
          </a:xfrm>
          <a:prstGeom prst="rect">
            <a:avLst/>
          </a:prstGeom>
          <a:noFill/>
        </p:spPr>
        <p:txBody>
          <a:bodyPr wrap="none">
            <a:spAutoFit/>
          </a:bodyPr>
          <a:lstStyle/>
          <a:p>
            <a:r>
              <a:rPr sz="1100" b="0" i="1" u="none">
                <a:solidFill>
                  <a:srgbClr val="1E1E1E"/>
                </a:solidFill>
                <a:latin typeface="Aptos"/>
              </a:rPr>
              <a:t>그림 5. Data pipeline visual.</a:t>
            </a:r>
          </a:p>
        </p:txBody>
      </p:sp>
      <p:sp>
        <p:nvSpPr>
          <p:cNvPr id="11" name="TextBox 10"/>
          <p:cNvSpPr txBox="1"/>
          <p:nvPr/>
        </p:nvSpPr>
        <p:spPr>
          <a:xfrm>
            <a:off x="4526280" y="5303520"/>
            <a:ext cx="3474720" cy="320040"/>
          </a:xfrm>
          <a:prstGeom prst="rect">
            <a:avLst/>
          </a:prstGeom>
          <a:noFill/>
        </p:spPr>
        <p:txBody>
          <a:bodyPr wrap="none">
            <a:spAutoFit/>
          </a:bodyPr>
          <a:lstStyle/>
          <a:p>
            <a:r>
              <a:rPr sz="1100" b="0" i="0" u="none">
                <a:solidFill>
                  <a:srgbClr val="785028"/>
                </a:solidFill>
                <a:latin typeface="Aptos"/>
              </a:rPr>
              <a:t>related_to candidate: low confidence bridge text</a:t>
            </a:r>
          </a:p>
        </p:txBody>
      </p:sp>
      <p:sp>
        <p:nvSpPr>
          <p:cNvPr id="12" name="TextBox 11"/>
          <p:cNvSpPr txBox="1"/>
          <p:nvPr/>
        </p:nvSpPr>
        <p:spPr>
          <a:xfrm>
            <a:off x="457200" y="6446520"/>
            <a:ext cx="11247120" cy="228600"/>
          </a:xfrm>
          <a:prstGeom prst="rect">
            <a:avLst/>
          </a:prstGeom>
          <a:noFill/>
        </p:spPr>
        <p:txBody>
          <a:bodyPr wrap="none">
            <a:spAutoFit/>
          </a:bodyPr>
          <a:lstStyle/>
          <a:p>
            <a:r>
              <a:rPr sz="800" b="0" i="0" u="none">
                <a:solidFill>
                  <a:srgbClr val="828282"/>
                </a:solidFill>
                <a:latin typeface="Aptos"/>
              </a:rPr>
              <a:t>openxml-parser public sample / synthetic data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28600"/>
            <a:ext cx="11155680" cy="548640"/>
          </a:xfrm>
          <a:prstGeom prst="rect">
            <a:avLst/>
          </a:prstGeom>
          <a:noFill/>
        </p:spPr>
        <p:txBody>
          <a:bodyPr wrap="none">
            <a:spAutoFit/>
          </a:bodyPr>
          <a:lstStyle/>
          <a:p>
            <a:r>
              <a:rPr sz="2800" b="1" i="0" u="none" dirty="0">
                <a:solidFill>
                  <a:srgbClr val="142346"/>
                </a:solidFill>
                <a:latin typeface="Aptos"/>
              </a:rPr>
              <a:t>Chart, grouped-looking shapes, and math text</a:t>
            </a:r>
          </a:p>
        </p:txBody>
      </p:sp>
      <p:sp>
        <p:nvSpPr>
          <p:cNvPr id="4" name="TextBox 3"/>
          <p:cNvSpPr txBox="1"/>
          <p:nvPr/>
        </p:nvSpPr>
        <p:spPr>
          <a:xfrm>
            <a:off x="530352" y="749808"/>
            <a:ext cx="10972800" cy="320040"/>
          </a:xfrm>
          <a:prstGeom prst="rect">
            <a:avLst/>
          </a:prstGeom>
          <a:noFill/>
        </p:spPr>
        <p:txBody>
          <a:bodyPr wrap="none">
            <a:spAutoFit/>
          </a:bodyPr>
          <a:lstStyle/>
          <a:p>
            <a:r>
              <a:rPr sz="1200" b="0" i="0" u="none" dirty="0">
                <a:solidFill>
                  <a:srgbClr val="505050"/>
                </a:solidFill>
                <a:latin typeface="Aptos"/>
              </a:rPr>
              <a:t>Expected: chart placeholder text, group recursion candidate, [MATH] line extraction</a:t>
            </a:r>
          </a:p>
        </p:txBody>
      </p:sp>
      <p:sp>
        <p:nvSpPr>
          <p:cNvPr id="5" name="Rounded Rectangle 4"/>
          <p:cNvSpPr/>
          <p:nvPr/>
        </p:nvSpPr>
        <p:spPr>
          <a:xfrm>
            <a:off x="10378440" y="228600"/>
            <a:ext cx="1280160" cy="320040"/>
          </a:xfrm>
          <a:prstGeom prst="roundRect">
            <a:avLst/>
          </a:prstGeom>
          <a:solidFill>
            <a:srgbClr val="E6ECF6"/>
          </a:solidFill>
          <a:ln>
            <a:solidFill>
              <a:srgbClr val="788CA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u="none">
                <a:solidFill>
                  <a:srgbClr val="142346"/>
                </a:solidFill>
                <a:latin typeface="Aptos"/>
              </a:rPr>
              <a:t>2.4 / 2.5 / 6.12</a:t>
            </a:r>
          </a:p>
        </p:txBody>
      </p:sp>
      <p:graphicFrame>
        <p:nvGraphicFramePr>
          <p:cNvPr id="6" name="Chart 5"/>
          <p:cNvGraphicFramePr>
            <a:graphicFrameLocks noGrp="1"/>
          </p:cNvGraphicFramePr>
          <p:nvPr/>
        </p:nvGraphicFramePr>
        <p:xfrm>
          <a:off x="777240" y="1234440"/>
          <a:ext cx="4297680" cy="2834640"/>
        </p:xfrm>
        <a:graphic>
          <a:graphicData uri="http://schemas.openxmlformats.org/drawingml/2006/chart">
            <c:chart xmlns:c="http://schemas.openxmlformats.org/drawingml/2006/chart" xmlns:r="http://schemas.openxmlformats.org/officeDocument/2006/relationships" r:id="rId2"/>
          </a:graphicData>
        </a:graphic>
      </p:graphicFrame>
      <p:sp>
        <p:nvSpPr>
          <p:cNvPr id="7" name="Rounded Rectangle 6"/>
          <p:cNvSpPr/>
          <p:nvPr/>
        </p:nvSpPr>
        <p:spPr>
          <a:xfrm>
            <a:off x="5623560" y="1234440"/>
            <a:ext cx="4937760" cy="2103120"/>
          </a:xfrm>
          <a:prstGeom prst="roundRect">
            <a:avLst/>
          </a:prstGeom>
          <a:solidFill>
            <a:srgbClr val="F6F8FC"/>
          </a:solidFill>
          <a:ln>
            <a:solidFill>
              <a:srgbClr val="A0AABE"/>
            </a:solidFill>
          </a:ln>
        </p:spPr>
        <p:style>
          <a:lnRef idx="1">
            <a:schemeClr val="accent1"/>
          </a:lnRef>
          <a:fillRef idx="3">
            <a:schemeClr val="accent1"/>
          </a:fillRef>
          <a:effectRef idx="2">
            <a:schemeClr val="accent1"/>
          </a:effectRef>
          <a:fontRef idx="minor">
            <a:schemeClr val="lt1"/>
          </a:fontRef>
        </p:style>
        <p:txBody>
          <a:bodyPr rtlCol="0" anchor="ctr"/>
          <a:lstStyle/>
          <a:p>
            <a:r>
              <a:t>GROUP CONTAINER (bbox)</a:t>
            </a:r>
          </a:p>
        </p:txBody>
      </p:sp>
      <p:sp>
        <p:nvSpPr>
          <p:cNvPr id="8" name="Rectangle 7"/>
          <p:cNvSpPr/>
          <p:nvPr/>
        </p:nvSpPr>
        <p:spPr>
          <a:xfrm>
            <a:off x="5897880" y="2103120"/>
            <a:ext cx="1143000" cy="502920"/>
          </a:xfrm>
          <a:prstGeom prst="rect">
            <a:avLst/>
          </a:prstGeom>
          <a:solidFill>
            <a:srgbClr val="DCEBFA"/>
          </a:solidFill>
        </p:spPr>
        <p:style>
          <a:lnRef idx="1">
            <a:schemeClr val="accent1"/>
          </a:lnRef>
          <a:fillRef idx="3">
            <a:schemeClr val="accent1"/>
          </a:fillRef>
          <a:effectRef idx="2">
            <a:schemeClr val="accent1"/>
          </a:effectRef>
          <a:fontRef idx="minor">
            <a:schemeClr val="lt1"/>
          </a:fontRef>
        </p:style>
        <p:txBody>
          <a:bodyPr rtlCol="0" anchor="ctr"/>
          <a:lstStyle/>
          <a:p>
            <a:r>
              <a:rPr sz="800" b="0" i="0" u="none">
                <a:solidFill>
                  <a:srgbClr val="1E1E1E"/>
                </a:solidFill>
                <a:latin typeface="Aptos"/>
              </a:rPr>
              <a:t>child TEXT</a:t>
            </a:r>
          </a:p>
        </p:txBody>
      </p:sp>
      <p:sp>
        <p:nvSpPr>
          <p:cNvPr id="9" name="Rectangle 8"/>
          <p:cNvSpPr/>
          <p:nvPr/>
        </p:nvSpPr>
        <p:spPr>
          <a:xfrm>
            <a:off x="7406640" y="2103120"/>
            <a:ext cx="1143000" cy="502920"/>
          </a:xfrm>
          <a:prstGeom prst="rect">
            <a:avLst/>
          </a:prstGeom>
          <a:solidFill>
            <a:srgbClr val="DCEBFA"/>
          </a:solidFill>
        </p:spPr>
        <p:style>
          <a:lnRef idx="1">
            <a:schemeClr val="accent1"/>
          </a:lnRef>
          <a:fillRef idx="3">
            <a:schemeClr val="accent1"/>
          </a:fillRef>
          <a:effectRef idx="2">
            <a:schemeClr val="accent1"/>
          </a:effectRef>
          <a:fontRef idx="minor">
            <a:schemeClr val="lt1"/>
          </a:fontRef>
        </p:style>
        <p:txBody>
          <a:bodyPr rtlCol="0" anchor="ctr"/>
          <a:lstStyle/>
          <a:p>
            <a:r>
              <a:rPr sz="800" b="0" i="0" u="none">
                <a:solidFill>
                  <a:srgbClr val="1E1E1E"/>
                </a:solidFill>
                <a:latin typeface="Aptos"/>
              </a:rPr>
              <a:t>child IMAGE</a:t>
            </a:r>
          </a:p>
        </p:txBody>
      </p:sp>
      <p:sp>
        <p:nvSpPr>
          <p:cNvPr id="10" name="Rectangle 9"/>
          <p:cNvSpPr/>
          <p:nvPr/>
        </p:nvSpPr>
        <p:spPr>
          <a:xfrm>
            <a:off x="8915400" y="2103120"/>
            <a:ext cx="1143000" cy="502920"/>
          </a:xfrm>
          <a:prstGeom prst="rect">
            <a:avLst/>
          </a:prstGeom>
          <a:solidFill>
            <a:srgbClr val="DCEBFA"/>
          </a:solidFill>
        </p:spPr>
        <p:style>
          <a:lnRef idx="1">
            <a:schemeClr val="accent1"/>
          </a:lnRef>
          <a:fillRef idx="3">
            <a:schemeClr val="accent1"/>
          </a:fillRef>
          <a:effectRef idx="2">
            <a:schemeClr val="accent1"/>
          </a:effectRef>
          <a:fontRef idx="minor">
            <a:schemeClr val="lt1"/>
          </a:fontRef>
        </p:style>
        <p:txBody>
          <a:bodyPr rtlCol="0" anchor="ctr"/>
          <a:lstStyle/>
          <a:p>
            <a:r>
              <a:rPr sz="800" b="0" i="0" u="none">
                <a:solidFill>
                  <a:srgbClr val="1E1E1E"/>
                </a:solidFill>
                <a:latin typeface="Aptos"/>
              </a:rPr>
              <a:t>child UNKNOWN-ish tiny marker</a:t>
            </a:r>
          </a:p>
        </p:txBody>
      </p:sp>
      <p:pic>
        <p:nvPicPr>
          <p:cNvPr id="11" name="Picture 10" descr="a_clean_flat_vector_icon_style_image_on_a_transpar_batch_3.png"/>
          <p:cNvPicPr>
            <a:picLocks noChangeAspect="1"/>
          </p:cNvPicPr>
          <p:nvPr/>
        </p:nvPicPr>
        <p:blipFill>
          <a:blip r:embed="rId3"/>
          <a:stretch>
            <a:fillRect/>
          </a:stretch>
        </p:blipFill>
        <p:spPr>
          <a:xfrm>
            <a:off x="7360920" y="2679192"/>
            <a:ext cx="640080" cy="640080"/>
          </a:xfrm>
          <a:prstGeom prst="rect">
            <a:avLst/>
          </a:prstGeom>
        </p:spPr>
      </p:pic>
      <p:sp>
        <p:nvSpPr>
          <p:cNvPr id="12" name="TextBox 11"/>
          <p:cNvSpPr txBox="1"/>
          <p:nvPr/>
        </p:nvSpPr>
        <p:spPr>
          <a:xfrm>
            <a:off x="822960" y="4663440"/>
            <a:ext cx="9601200" cy="822960"/>
          </a:xfrm>
          <a:prstGeom prst="rect">
            <a:avLst/>
          </a:prstGeom>
          <a:noFill/>
        </p:spPr>
        <p:txBody>
          <a:bodyPr wrap="none">
            <a:spAutoFit/>
          </a:bodyPr>
          <a:lstStyle/>
          <a:p>
            <a:r>
              <a:rPr sz="1700" b="0" i="0" u="none">
                <a:solidFill>
                  <a:srgbClr val="1E1E1E"/>
                </a:solidFill>
                <a:latin typeface="Aptos"/>
              </a:rPr>
              <a:t>본문과 수식 혼합: [MATH] y = W x + b,  reconstruction_error = ||x - x_hat||²</a:t>
            </a:r>
          </a:p>
        </p:txBody>
      </p:sp>
      <p:sp>
        <p:nvSpPr>
          <p:cNvPr id="13" name="TextBox 12"/>
          <p:cNvSpPr txBox="1"/>
          <p:nvPr/>
        </p:nvSpPr>
        <p:spPr>
          <a:xfrm>
            <a:off x="457200" y="6446520"/>
            <a:ext cx="11247120" cy="228600"/>
          </a:xfrm>
          <a:prstGeom prst="rect">
            <a:avLst/>
          </a:prstGeom>
          <a:noFill/>
        </p:spPr>
        <p:txBody>
          <a:bodyPr wrap="none">
            <a:spAutoFit/>
          </a:bodyPr>
          <a:lstStyle/>
          <a:p>
            <a:r>
              <a:rPr sz="800" b="0" i="0" u="none">
                <a:solidFill>
                  <a:srgbClr val="828282"/>
                </a:solidFill>
                <a:latin typeface="Aptos"/>
              </a:rPr>
              <a:t>openxml-parser public sample / synthetic data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28600"/>
            <a:ext cx="11155680" cy="548640"/>
          </a:xfrm>
          <a:prstGeom prst="rect">
            <a:avLst/>
          </a:prstGeom>
          <a:noFill/>
        </p:spPr>
        <p:txBody>
          <a:bodyPr wrap="none">
            <a:spAutoFit/>
          </a:bodyPr>
          <a:lstStyle/>
          <a:p>
            <a:r>
              <a:rPr sz="2800" b="1" i="0" u="none">
                <a:solidFill>
                  <a:srgbClr val="142346"/>
                </a:solidFill>
                <a:latin typeface="Aptos"/>
              </a:rPr>
              <a:t>RAG chunking, noise filtering, template text</a:t>
            </a:r>
          </a:p>
        </p:txBody>
      </p:sp>
      <p:sp>
        <p:nvSpPr>
          <p:cNvPr id="4" name="TextBox 3"/>
          <p:cNvSpPr txBox="1"/>
          <p:nvPr/>
        </p:nvSpPr>
        <p:spPr>
          <a:xfrm>
            <a:off x="530352" y="749808"/>
            <a:ext cx="10972800" cy="320040"/>
          </a:xfrm>
          <a:prstGeom prst="rect">
            <a:avLst/>
          </a:prstGeom>
          <a:noFill/>
        </p:spPr>
        <p:txBody>
          <a:bodyPr wrap="none">
            <a:spAutoFit/>
          </a:bodyPr>
          <a:lstStyle/>
          <a:p>
            <a:r>
              <a:rPr sz="1200" b="0" i="0" u="none">
                <a:solidFill>
                  <a:srgbClr val="505050"/>
                </a:solidFill>
                <a:latin typeface="Aptos"/>
              </a:rPr>
              <a:t>Expected: long paragraph split; tiny empty/noise removed; template text dedup candidate</a:t>
            </a:r>
          </a:p>
        </p:txBody>
      </p:sp>
      <p:sp>
        <p:nvSpPr>
          <p:cNvPr id="5" name="Rounded Rectangle 4"/>
          <p:cNvSpPr/>
          <p:nvPr/>
        </p:nvSpPr>
        <p:spPr>
          <a:xfrm>
            <a:off x="10378440" y="228600"/>
            <a:ext cx="1280160" cy="320040"/>
          </a:xfrm>
          <a:prstGeom prst="roundRect">
            <a:avLst/>
          </a:prstGeom>
          <a:solidFill>
            <a:srgbClr val="E6ECF6"/>
          </a:solidFill>
          <a:ln>
            <a:solidFill>
              <a:srgbClr val="788CA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u="none">
                <a:solidFill>
                  <a:srgbClr val="142346"/>
                </a:solidFill>
                <a:latin typeface="Aptos"/>
              </a:rPr>
              <a:t>8.4 / 10.x</a:t>
            </a:r>
          </a:p>
        </p:txBody>
      </p:sp>
      <p:sp>
        <p:nvSpPr>
          <p:cNvPr id="6" name="TextBox 5"/>
          <p:cNvSpPr txBox="1"/>
          <p:nvPr/>
        </p:nvSpPr>
        <p:spPr>
          <a:xfrm>
            <a:off x="777240" y="1143000"/>
            <a:ext cx="10607040" cy="2103120"/>
          </a:xfrm>
          <a:prstGeom prst="rect">
            <a:avLst/>
          </a:prstGeom>
          <a:noFill/>
        </p:spPr>
        <p:txBody>
          <a:bodyPr wrap="square">
            <a:normAutofit/>
          </a:bodyPr>
          <a:lstStyle/>
          <a:p>
            <a:r>
              <a:rPr sz="1200" b="0" i="0" u="none" dirty="0">
                <a:solidFill>
                  <a:srgbClr val="1E1E1E"/>
                </a:solidFill>
                <a:latin typeface="Aptos"/>
              </a:rPr>
              <a:t>This long synthetic paragraph is designed for RAG chunk splitting. This long synthetic paragraph is designed for RAG chunk splitting. This long synthetic paragraph is designed for RAG chunk splitting. This long synthetic paragraph is designed for RAG chunk splitting. This long synthetic paragraph is designed for RAG chunk splitting. This long synthetic paragraph is designed for RAG chunk splitting. This long synthetic paragraph is designed for RAG chunk splitting. This long synthetic paragraph is designed for RAG chunk splitting. This long synthetic paragraph is designed for RAG chunk splitting. This long synthetic paragraph is designed for RAG chunk splitting. This long synthetic paragraph is designed for RAG chunk splitting. This long synthetic paragraph is designed for RAG chunk splitting. This long synthetic paragraph is designed for RAG chunk splitting. This long synthetic paragraph is designed for RAG chunk splitting. This long synthetic paragraph is designed for RAG chunk splitting. This long synthetic paragraph is designed for RAG chunk splitting. This long synthetic paragraph is designed for RAG chunk splitting. This long synthetic paragraph is designed for RAG chunk splitting. It includes captions, commas, and quoted strings like "quality gate" to test JSON escaping. </a:t>
            </a:r>
          </a:p>
        </p:txBody>
      </p:sp>
      <p:sp>
        <p:nvSpPr>
          <p:cNvPr id="7" name="Rectangle 6"/>
          <p:cNvSpPr/>
          <p:nvPr/>
        </p:nvSpPr>
        <p:spPr>
          <a:xfrm>
            <a:off x="228600" y="6126480"/>
            <a:ext cx="45720" cy="3657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5989320"/>
            <a:ext cx="411480" cy="182880"/>
          </a:xfrm>
          <a:prstGeom prst="rect">
            <a:avLst/>
          </a:prstGeom>
          <a:noFill/>
        </p:spPr>
        <p:txBody>
          <a:bodyPr wrap="none">
            <a:spAutoFit/>
          </a:bodyPr>
          <a:lstStyle/>
          <a:p>
            <a:r>
              <a:rPr sz="700" b="0" i="0" u="none">
                <a:solidFill>
                  <a:srgbClr val="1E1E1E"/>
                </a:solidFill>
                <a:latin typeface="Aptos"/>
              </a:rPr>
              <a:t>keep</a:t>
            </a:r>
          </a:p>
        </p:txBody>
      </p:sp>
      <p:sp>
        <p:nvSpPr>
          <p:cNvPr id="9" name="TextBox 8"/>
          <p:cNvSpPr txBox="1"/>
          <p:nvPr/>
        </p:nvSpPr>
        <p:spPr>
          <a:xfrm>
            <a:off x="3017520" y="5989320"/>
            <a:ext cx="2194560" cy="201168"/>
          </a:xfrm>
          <a:prstGeom prst="rect">
            <a:avLst/>
          </a:prstGeom>
          <a:noFill/>
        </p:spPr>
        <p:txBody>
          <a:bodyPr wrap="none">
            <a:spAutoFit/>
          </a:bodyPr>
          <a:lstStyle/>
          <a:p>
            <a:r>
              <a:rPr sz="700" b="0" i="0" u="none">
                <a:solidFill>
                  <a:srgbClr val="A0A0A0"/>
                </a:solidFill>
                <a:latin typeface="Aptos"/>
              </a:rPr>
              <a:t>CONFIDENTIAL TEMPLATE FOOTER</a:t>
            </a:r>
          </a:p>
        </p:txBody>
      </p:sp>
      <p:sp>
        <p:nvSpPr>
          <p:cNvPr id="10" name="TextBox 9"/>
          <p:cNvSpPr txBox="1"/>
          <p:nvPr/>
        </p:nvSpPr>
        <p:spPr>
          <a:xfrm>
            <a:off x="7406640" y="5989320"/>
            <a:ext cx="2194560" cy="201168"/>
          </a:xfrm>
          <a:prstGeom prst="rect">
            <a:avLst/>
          </a:prstGeom>
          <a:noFill/>
        </p:spPr>
        <p:txBody>
          <a:bodyPr wrap="none">
            <a:spAutoFit/>
          </a:bodyPr>
          <a:lstStyle/>
          <a:p>
            <a:r>
              <a:rPr sz="700" b="0" i="0" u="none">
                <a:solidFill>
                  <a:srgbClr val="A0A0A0"/>
                </a:solidFill>
                <a:latin typeface="Aptos"/>
              </a:rPr>
              <a:t>CONFIDENTIAL TEMPLATE FOOTER</a:t>
            </a:r>
          </a:p>
        </p:txBody>
      </p:sp>
      <p:sp>
        <p:nvSpPr>
          <p:cNvPr id="11" name="TextBox 10"/>
          <p:cNvSpPr txBox="1"/>
          <p:nvPr/>
        </p:nvSpPr>
        <p:spPr>
          <a:xfrm>
            <a:off x="457200" y="6446520"/>
            <a:ext cx="11247120" cy="228600"/>
          </a:xfrm>
          <a:prstGeom prst="rect">
            <a:avLst/>
          </a:prstGeom>
          <a:noFill/>
        </p:spPr>
        <p:txBody>
          <a:bodyPr wrap="none">
            <a:spAutoFit/>
          </a:bodyPr>
          <a:lstStyle/>
          <a:p>
            <a:r>
              <a:rPr sz="800" b="0" i="0" u="none">
                <a:solidFill>
                  <a:srgbClr val="828282"/>
                </a:solidFill>
                <a:latin typeface="Aptos"/>
              </a:rPr>
              <a:t>openxml-parser public sample / synthetic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951</Words>
  <Application>Microsoft Office PowerPoint</Application>
  <PresentationFormat>와이드스크린</PresentationFormat>
  <Paragraphs>131</Paragraphs>
  <Slides>10</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10</vt:i4>
      </vt:variant>
    </vt:vector>
  </HeadingPairs>
  <TitlesOfParts>
    <vt:vector size="14" baseType="lpstr">
      <vt:lpstr>Aptos</vt:lpstr>
      <vt:lpstr>Arial</vt:lpstr>
      <vt:lpstr>Calibri</vt:lpstr>
      <vt:lpstr>Office Theme</vt:lpstr>
      <vt:lpstr>OpenXML Parser Sample Deck</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Junpyo Lee</cp:lastModifiedBy>
  <cp:revision>5</cp:revision>
  <dcterms:created xsi:type="dcterms:W3CDTF">2013-01-27T09:14:16Z</dcterms:created>
  <dcterms:modified xsi:type="dcterms:W3CDTF">2026-05-16T09:17:44Z</dcterms:modified>
  <cp:category/>
</cp:coreProperties>
</file>